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0" r:id="rId5"/>
    <p:sldId id="271" r:id="rId6"/>
    <p:sldId id="273" r:id="rId7"/>
    <p:sldId id="275" r:id="rId8"/>
    <p:sldId id="263" r:id="rId9"/>
    <p:sldId id="276" r:id="rId10"/>
    <p:sldId id="277" r:id="rId11"/>
    <p:sldId id="274" r:id="rId12"/>
    <p:sldId id="262" r:id="rId13"/>
    <p:sldId id="283" r:id="rId14"/>
    <p:sldId id="285" r:id="rId15"/>
    <p:sldId id="278" r:id="rId16"/>
    <p:sldId id="280" r:id="rId17"/>
    <p:sldId id="279" r:id="rId18"/>
    <p:sldId id="281" r:id="rId19"/>
    <p:sldId id="265" r:id="rId20"/>
    <p:sldId id="282" r:id="rId21"/>
    <p:sldId id="266" r:id="rId22"/>
    <p:sldId id="286" r:id="rId23"/>
    <p:sldId id="287" r:id="rId24"/>
    <p:sldId id="268" r:id="rId25"/>
    <p:sldId id="269" r:id="rId26"/>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56350" y="3695917"/>
            <a:ext cx="13575299" cy="1964580"/>
          </a:xfrm>
          <a:prstGeom prst="rect">
            <a:avLst/>
          </a:prstGeom>
        </p:spPr>
        <p:txBody>
          <a:bodyPr wrap="square" lIns="0" tIns="0" rIns="0" bIns="0">
            <a:spAutoFit/>
          </a:bodyPr>
          <a:lstStyle>
            <a:lvl1pPr>
              <a:defRPr sz="7000" b="0" i="0">
                <a:solidFill>
                  <a:srgbClr val="FDF5F5"/>
                </a:solidFill>
                <a:latin typeface="Calibri"/>
                <a:cs typeface="Calibri"/>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750" b="0" i="0">
                <a:solidFill>
                  <a:schemeClr val="bg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0" i="0">
                <a:solidFill>
                  <a:srgbClr val="FDF5F5"/>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750" b="0" i="0">
                <a:solidFill>
                  <a:schemeClr val="bg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182537"/>
          </a:solidFill>
        </p:spPr>
        <p:txBody>
          <a:bodyPr wrap="square" lIns="0" tIns="0" rIns="0" bIns="0" rtlCol="0"/>
          <a:lstStyle/>
          <a:p>
            <a:endParaRPr/>
          </a:p>
        </p:txBody>
      </p:sp>
      <p:sp>
        <p:nvSpPr>
          <p:cNvPr id="17" name="bg object 17"/>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18" name="bg object 18"/>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0" y="7653925"/>
            <a:ext cx="18287998" cy="2633074"/>
          </a:xfrm>
          <a:prstGeom prst="rect">
            <a:avLst/>
          </a:prstGeom>
        </p:spPr>
      </p:pic>
      <p:sp>
        <p:nvSpPr>
          <p:cNvPr id="2" name="Holder 2"/>
          <p:cNvSpPr>
            <a:spLocks noGrp="1"/>
          </p:cNvSpPr>
          <p:nvPr>
            <p:ph type="title"/>
          </p:nvPr>
        </p:nvSpPr>
        <p:spPr/>
        <p:txBody>
          <a:bodyPr lIns="0" tIns="0" rIns="0" bIns="0"/>
          <a:lstStyle>
            <a:lvl1pPr>
              <a:defRPr sz="7000" b="0" i="0">
                <a:solidFill>
                  <a:srgbClr val="FDF5F5"/>
                </a:solidFill>
                <a:latin typeface="Calibri"/>
                <a:cs typeface="Calibri"/>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0" i="0">
                <a:solidFill>
                  <a:srgbClr val="FDF5F5"/>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182537"/>
          </a:solidFill>
        </p:spPr>
        <p:txBody>
          <a:bodyPr wrap="square" lIns="0" tIns="0" rIns="0" bIns="0" rtlCol="0"/>
          <a:lstStyle/>
          <a:p>
            <a:endParaRPr/>
          </a:p>
        </p:txBody>
      </p:sp>
      <p:sp>
        <p:nvSpPr>
          <p:cNvPr id="2" name="Holder 2"/>
          <p:cNvSpPr>
            <a:spLocks noGrp="1"/>
          </p:cNvSpPr>
          <p:nvPr>
            <p:ph type="title"/>
          </p:nvPr>
        </p:nvSpPr>
        <p:spPr>
          <a:xfrm>
            <a:off x="3958605" y="308006"/>
            <a:ext cx="10478496" cy="1092200"/>
          </a:xfrm>
          <a:prstGeom prst="rect">
            <a:avLst/>
          </a:prstGeom>
        </p:spPr>
        <p:txBody>
          <a:bodyPr wrap="square" lIns="0" tIns="0" rIns="0" bIns="0">
            <a:spAutoFit/>
          </a:bodyPr>
          <a:lstStyle>
            <a:lvl1pPr>
              <a:defRPr sz="7000" b="0" i="0">
                <a:solidFill>
                  <a:srgbClr val="FDF5F5"/>
                </a:solidFill>
                <a:latin typeface="Calibri"/>
                <a:cs typeface="Calibri"/>
              </a:defRPr>
            </a:lvl1pPr>
          </a:lstStyle>
          <a:p>
            <a:endParaRPr/>
          </a:p>
        </p:txBody>
      </p:sp>
      <p:sp>
        <p:nvSpPr>
          <p:cNvPr id="3" name="Holder 3"/>
          <p:cNvSpPr>
            <a:spLocks noGrp="1"/>
          </p:cNvSpPr>
          <p:nvPr>
            <p:ph type="body" idx="1"/>
          </p:nvPr>
        </p:nvSpPr>
        <p:spPr>
          <a:xfrm>
            <a:off x="1471736" y="2015633"/>
            <a:ext cx="15800705" cy="3359150"/>
          </a:xfrm>
          <a:prstGeom prst="rect">
            <a:avLst/>
          </a:prstGeom>
        </p:spPr>
        <p:txBody>
          <a:bodyPr wrap="square" lIns="0" tIns="0" rIns="0" bIns="0">
            <a:spAutoFit/>
          </a:bodyPr>
          <a:lstStyle>
            <a:lvl1pPr>
              <a:defRPr sz="3750" b="0" i="0">
                <a:solidFill>
                  <a:schemeClr val="bg1"/>
                </a:solidFill>
                <a:latin typeface="Trebuchet MS"/>
                <a:cs typeface="Trebuchet MS"/>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sp>
          <p:nvSpPr>
            <p:cNvPr id="3" name="object 3"/>
            <p:cNvSpPr/>
            <p:nvPr/>
          </p:nvSpPr>
          <p:spPr>
            <a:xfrm>
              <a:off x="0" y="0"/>
              <a:ext cx="18288000" cy="118110"/>
            </a:xfrm>
            <a:custGeom>
              <a:avLst/>
              <a:gdLst/>
              <a:ahLst/>
              <a:cxnLst/>
              <a:rect l="l" t="t" r="r" b="b"/>
              <a:pathLst>
                <a:path w="18288000" h="118110">
                  <a:moveTo>
                    <a:pt x="0" y="117816"/>
                  </a:moveTo>
                  <a:lnTo>
                    <a:pt x="18287998" y="117816"/>
                  </a:lnTo>
                  <a:lnTo>
                    <a:pt x="18287998" y="0"/>
                  </a:lnTo>
                  <a:lnTo>
                    <a:pt x="0" y="0"/>
                  </a:lnTo>
                  <a:lnTo>
                    <a:pt x="0" y="117816"/>
                  </a:lnTo>
                  <a:close/>
                </a:path>
              </a:pathLst>
            </a:custGeom>
            <a:solidFill>
              <a:srgbClr val="182537"/>
            </a:solidFill>
          </p:spPr>
          <p:txBody>
            <a:bodyPr wrap="square" lIns="0" tIns="0" rIns="0" bIns="0" rtlCol="0"/>
            <a:lstStyle/>
            <a:p>
              <a:endParaRPr/>
            </a:p>
          </p:txBody>
        </p:sp>
        <p:pic>
          <p:nvPicPr>
            <p:cNvPr id="4" name="object 4"/>
            <p:cNvPicPr/>
            <p:nvPr/>
          </p:nvPicPr>
          <p:blipFill>
            <a:blip r:embed="rId2" cstate="print"/>
            <a:stretch>
              <a:fillRect/>
            </a:stretch>
          </p:blipFill>
          <p:spPr>
            <a:xfrm>
              <a:off x="0" y="117816"/>
              <a:ext cx="18287998" cy="10169182"/>
            </a:xfrm>
            <a:prstGeom prst="rect">
              <a:avLst/>
            </a:prstGeom>
          </p:spPr>
        </p:pic>
        <p:sp>
          <p:nvSpPr>
            <p:cNvPr id="5" name="object 5"/>
            <p:cNvSpPr/>
            <p:nvPr/>
          </p:nvSpPr>
          <p:spPr>
            <a:xfrm>
              <a:off x="0" y="11"/>
              <a:ext cx="18288000" cy="2729865"/>
            </a:xfrm>
            <a:custGeom>
              <a:avLst/>
              <a:gdLst/>
              <a:ahLst/>
              <a:cxnLst/>
              <a:rect l="l" t="t" r="r" b="b"/>
              <a:pathLst>
                <a:path w="18288000" h="2729865">
                  <a:moveTo>
                    <a:pt x="18287988" y="0"/>
                  </a:moveTo>
                  <a:lnTo>
                    <a:pt x="0" y="0"/>
                  </a:lnTo>
                  <a:lnTo>
                    <a:pt x="0" y="1333817"/>
                  </a:lnTo>
                  <a:lnTo>
                    <a:pt x="0" y="1352867"/>
                  </a:lnTo>
                  <a:lnTo>
                    <a:pt x="0" y="2729738"/>
                  </a:lnTo>
                  <a:lnTo>
                    <a:pt x="18287988" y="2729738"/>
                  </a:lnTo>
                  <a:lnTo>
                    <a:pt x="18287988" y="1352867"/>
                  </a:lnTo>
                  <a:lnTo>
                    <a:pt x="18287988" y="1333817"/>
                  </a:lnTo>
                  <a:lnTo>
                    <a:pt x="18287988" y="0"/>
                  </a:lnTo>
                  <a:close/>
                </a:path>
              </a:pathLst>
            </a:custGeom>
            <a:solidFill>
              <a:srgbClr val="2E3B4A"/>
            </a:solidFill>
          </p:spPr>
          <p:txBody>
            <a:bodyPr wrap="square" lIns="0" tIns="0" rIns="0" bIns="0" rtlCol="0"/>
            <a:lstStyle/>
            <a:p>
              <a:endParaRPr/>
            </a:p>
          </p:txBody>
        </p:sp>
        <p:sp>
          <p:nvSpPr>
            <p:cNvPr id="6" name="object 6"/>
            <p:cNvSpPr/>
            <p:nvPr/>
          </p:nvSpPr>
          <p:spPr>
            <a:xfrm>
              <a:off x="41795" y="0"/>
              <a:ext cx="18246725" cy="7467600"/>
            </a:xfrm>
            <a:custGeom>
              <a:avLst/>
              <a:gdLst/>
              <a:ahLst/>
              <a:cxnLst/>
              <a:rect l="l" t="t" r="r" b="b"/>
              <a:pathLst>
                <a:path w="18246725" h="7467600">
                  <a:moveTo>
                    <a:pt x="5057254" y="1333830"/>
                  </a:moveTo>
                  <a:lnTo>
                    <a:pt x="5027600" y="1333830"/>
                  </a:lnTo>
                  <a:lnTo>
                    <a:pt x="3407245" y="0"/>
                  </a:lnTo>
                  <a:lnTo>
                    <a:pt x="0" y="0"/>
                  </a:lnTo>
                  <a:lnTo>
                    <a:pt x="1620354" y="1333830"/>
                  </a:lnTo>
                  <a:lnTo>
                    <a:pt x="1610271" y="1333830"/>
                  </a:lnTo>
                  <a:lnTo>
                    <a:pt x="331647" y="2729750"/>
                  </a:lnTo>
                  <a:lnTo>
                    <a:pt x="3778631" y="2729750"/>
                  </a:lnTo>
                  <a:lnTo>
                    <a:pt x="5039804" y="1352880"/>
                  </a:lnTo>
                  <a:lnTo>
                    <a:pt x="5050752" y="1352880"/>
                  </a:lnTo>
                  <a:lnTo>
                    <a:pt x="5044503" y="1347749"/>
                  </a:lnTo>
                  <a:lnTo>
                    <a:pt x="5057254" y="1333830"/>
                  </a:lnTo>
                  <a:close/>
                </a:path>
                <a:path w="18246725" h="7467600">
                  <a:moveTo>
                    <a:pt x="10885335" y="1333830"/>
                  </a:moveTo>
                  <a:lnTo>
                    <a:pt x="10855681" y="1333830"/>
                  </a:lnTo>
                  <a:lnTo>
                    <a:pt x="9235326" y="0"/>
                  </a:lnTo>
                  <a:lnTo>
                    <a:pt x="5828081" y="0"/>
                  </a:lnTo>
                  <a:lnTo>
                    <a:pt x="7448436" y="1333830"/>
                  </a:lnTo>
                  <a:lnTo>
                    <a:pt x="7438352" y="1333830"/>
                  </a:lnTo>
                  <a:lnTo>
                    <a:pt x="6159728" y="2729750"/>
                  </a:lnTo>
                  <a:lnTo>
                    <a:pt x="9606712" y="2729750"/>
                  </a:lnTo>
                  <a:lnTo>
                    <a:pt x="10867885" y="1352880"/>
                  </a:lnTo>
                  <a:lnTo>
                    <a:pt x="10878833" y="1352880"/>
                  </a:lnTo>
                  <a:lnTo>
                    <a:pt x="10872584" y="1347749"/>
                  </a:lnTo>
                  <a:lnTo>
                    <a:pt x="10885335" y="1333830"/>
                  </a:lnTo>
                  <a:close/>
                </a:path>
                <a:path w="18246725" h="7467600">
                  <a:moveTo>
                    <a:pt x="15994596" y="7314120"/>
                  </a:moveTo>
                  <a:lnTo>
                    <a:pt x="9524251" y="7314120"/>
                  </a:lnTo>
                  <a:lnTo>
                    <a:pt x="8680463" y="7314120"/>
                  </a:lnTo>
                  <a:lnTo>
                    <a:pt x="2210117" y="7314120"/>
                  </a:lnTo>
                  <a:lnTo>
                    <a:pt x="2210117" y="7467562"/>
                  </a:lnTo>
                  <a:lnTo>
                    <a:pt x="8680463" y="7467562"/>
                  </a:lnTo>
                  <a:lnTo>
                    <a:pt x="9524251" y="7467562"/>
                  </a:lnTo>
                  <a:lnTo>
                    <a:pt x="15994596" y="7467562"/>
                  </a:lnTo>
                  <a:lnTo>
                    <a:pt x="15994596" y="7314120"/>
                  </a:lnTo>
                  <a:close/>
                </a:path>
                <a:path w="18246725" h="7467600">
                  <a:moveTo>
                    <a:pt x="15994596" y="5431777"/>
                  </a:moveTo>
                  <a:lnTo>
                    <a:pt x="9524251" y="5431777"/>
                  </a:lnTo>
                  <a:lnTo>
                    <a:pt x="8680463" y="5431777"/>
                  </a:lnTo>
                  <a:lnTo>
                    <a:pt x="2210117" y="5431777"/>
                  </a:lnTo>
                  <a:lnTo>
                    <a:pt x="2210117" y="5585218"/>
                  </a:lnTo>
                  <a:lnTo>
                    <a:pt x="8680463" y="5585218"/>
                  </a:lnTo>
                  <a:lnTo>
                    <a:pt x="9524251" y="5585218"/>
                  </a:lnTo>
                  <a:lnTo>
                    <a:pt x="15994596" y="5585218"/>
                  </a:lnTo>
                  <a:lnTo>
                    <a:pt x="15994596" y="5431777"/>
                  </a:lnTo>
                  <a:close/>
                </a:path>
                <a:path w="18246725" h="7467600">
                  <a:moveTo>
                    <a:pt x="16713416" y="1333830"/>
                  </a:moveTo>
                  <a:lnTo>
                    <a:pt x="16683762" y="1333830"/>
                  </a:lnTo>
                  <a:lnTo>
                    <a:pt x="15063407" y="0"/>
                  </a:lnTo>
                  <a:lnTo>
                    <a:pt x="11656162" y="0"/>
                  </a:lnTo>
                  <a:lnTo>
                    <a:pt x="13276517" y="1333830"/>
                  </a:lnTo>
                  <a:lnTo>
                    <a:pt x="13266433" y="1333830"/>
                  </a:lnTo>
                  <a:lnTo>
                    <a:pt x="11987809" y="2729750"/>
                  </a:lnTo>
                  <a:lnTo>
                    <a:pt x="15434793" y="2729750"/>
                  </a:lnTo>
                  <a:lnTo>
                    <a:pt x="16695966" y="1352880"/>
                  </a:lnTo>
                  <a:lnTo>
                    <a:pt x="16706914" y="1352880"/>
                  </a:lnTo>
                  <a:lnTo>
                    <a:pt x="16700665" y="1347749"/>
                  </a:lnTo>
                  <a:lnTo>
                    <a:pt x="16713416" y="1333830"/>
                  </a:lnTo>
                  <a:close/>
                </a:path>
                <a:path w="18246725" h="7467600">
                  <a:moveTo>
                    <a:pt x="18246192" y="2262619"/>
                  </a:moveTo>
                  <a:lnTo>
                    <a:pt x="17818316" y="2729750"/>
                  </a:lnTo>
                  <a:lnTo>
                    <a:pt x="18246192" y="2729750"/>
                  </a:lnTo>
                  <a:lnTo>
                    <a:pt x="18246192" y="2262619"/>
                  </a:lnTo>
                  <a:close/>
                </a:path>
                <a:path w="18246725" h="7467600">
                  <a:moveTo>
                    <a:pt x="18246192" y="0"/>
                  </a:moveTo>
                  <a:lnTo>
                    <a:pt x="17484243" y="0"/>
                  </a:lnTo>
                  <a:lnTo>
                    <a:pt x="18246192" y="627214"/>
                  </a:lnTo>
                  <a:lnTo>
                    <a:pt x="18246192" y="0"/>
                  </a:lnTo>
                  <a:close/>
                </a:path>
              </a:pathLst>
            </a:custGeom>
            <a:solidFill>
              <a:srgbClr val="FFFFFF"/>
            </a:solidFill>
          </p:spPr>
          <p:txBody>
            <a:bodyPr wrap="square" lIns="0" tIns="0" rIns="0" bIns="0" rtlCol="0"/>
            <a:lstStyle/>
            <a:p>
              <a:endParaRPr/>
            </a:p>
          </p:txBody>
        </p:sp>
      </p:grpSp>
      <p:sp>
        <p:nvSpPr>
          <p:cNvPr id="7" name="object 7"/>
          <p:cNvSpPr txBox="1">
            <a:spLocks noGrp="1"/>
          </p:cNvSpPr>
          <p:nvPr>
            <p:ph type="ctrTitle"/>
          </p:nvPr>
        </p:nvSpPr>
        <p:spPr>
          <a:xfrm>
            <a:off x="2356350" y="3695917"/>
            <a:ext cx="13575299" cy="1597873"/>
          </a:xfrm>
          <a:prstGeom prst="rect">
            <a:avLst/>
          </a:prstGeom>
        </p:spPr>
        <p:txBody>
          <a:bodyPr vert="horz" wrap="square" lIns="0" tIns="12700" rIns="0" bIns="0" rtlCol="0">
            <a:spAutoFit/>
          </a:bodyPr>
          <a:lstStyle/>
          <a:p>
            <a:pPr marL="12700">
              <a:lnSpc>
                <a:spcPct val="100000"/>
              </a:lnSpc>
              <a:spcBef>
                <a:spcPts val="100"/>
              </a:spcBef>
            </a:pPr>
            <a:r>
              <a:rPr lang="en-US" sz="10300" spc="1415" dirty="0">
                <a:solidFill>
                  <a:srgbClr val="FFFFFF"/>
                </a:solidFill>
              </a:rPr>
              <a:t>YE</a:t>
            </a:r>
            <a:r>
              <a:rPr sz="10300" spc="700" dirty="0">
                <a:solidFill>
                  <a:srgbClr val="FFFFFF"/>
                </a:solidFill>
              </a:rPr>
              <a:t> </a:t>
            </a:r>
            <a:r>
              <a:rPr sz="10300" spc="775" dirty="0">
                <a:solidFill>
                  <a:srgbClr val="FFFFFF"/>
                </a:solidFill>
              </a:rPr>
              <a:t>STUDIOS</a:t>
            </a:r>
            <a:endParaRPr sz="10300" dirty="0"/>
          </a:p>
        </p:txBody>
      </p:sp>
      <p:sp>
        <p:nvSpPr>
          <p:cNvPr id="8" name="object 8"/>
          <p:cNvSpPr txBox="1"/>
          <p:nvPr/>
        </p:nvSpPr>
        <p:spPr>
          <a:xfrm>
            <a:off x="2799752" y="6470139"/>
            <a:ext cx="4383405" cy="1564531"/>
          </a:xfrm>
          <a:prstGeom prst="rect">
            <a:avLst/>
          </a:prstGeom>
        </p:spPr>
        <p:txBody>
          <a:bodyPr vert="horz" wrap="square" lIns="0" tIns="12700" rIns="0" bIns="0" rtlCol="0">
            <a:spAutoFit/>
          </a:bodyPr>
          <a:lstStyle/>
          <a:p>
            <a:pPr marL="12700">
              <a:lnSpc>
                <a:spcPct val="100000"/>
              </a:lnSpc>
              <a:spcBef>
                <a:spcPts val="100"/>
              </a:spcBef>
            </a:pPr>
            <a:r>
              <a:rPr sz="5000" spc="-85" dirty="0">
                <a:solidFill>
                  <a:srgbClr val="FFFFFF"/>
                </a:solidFill>
                <a:latin typeface="Trebuchet MS"/>
                <a:cs typeface="Trebuchet MS"/>
              </a:rPr>
              <a:t>by</a:t>
            </a:r>
            <a:r>
              <a:rPr sz="5000" spc="-210" dirty="0">
                <a:solidFill>
                  <a:srgbClr val="FFFFFF"/>
                </a:solidFill>
                <a:latin typeface="Trebuchet MS"/>
                <a:cs typeface="Trebuchet MS"/>
              </a:rPr>
              <a:t> </a:t>
            </a:r>
            <a:r>
              <a:rPr sz="5000" dirty="0">
                <a:solidFill>
                  <a:srgbClr val="FFFFFF"/>
                </a:solidFill>
                <a:latin typeface="Trebuchet MS"/>
                <a:cs typeface="Trebuchet MS"/>
              </a:rPr>
              <a:t>Group</a:t>
            </a:r>
            <a:r>
              <a:rPr sz="5000" spc="-210" dirty="0">
                <a:solidFill>
                  <a:srgbClr val="FFFFFF"/>
                </a:solidFill>
                <a:latin typeface="Trebuchet MS"/>
                <a:cs typeface="Trebuchet MS"/>
              </a:rPr>
              <a:t> </a:t>
            </a:r>
            <a:r>
              <a:rPr lang="en-US" sz="5000" spc="-10" dirty="0">
                <a:solidFill>
                  <a:srgbClr val="FFFFFF"/>
                </a:solidFill>
                <a:latin typeface="Trebuchet MS"/>
                <a:cs typeface="Trebuchet MS"/>
              </a:rPr>
              <a:t>One</a:t>
            </a:r>
          </a:p>
          <a:p>
            <a:pPr marL="12700">
              <a:lnSpc>
                <a:spcPct val="100000"/>
              </a:lnSpc>
              <a:spcBef>
                <a:spcPts val="100"/>
              </a:spcBef>
            </a:pPr>
            <a:endParaRPr sz="50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sp>
          <p:nvSpPr>
            <p:cNvPr id="3" name="object 3"/>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p:cNvPicPr/>
            <p:nvPr/>
          </p:nvPicPr>
          <p:blipFill>
            <a:blip r:embed="rId2" cstate="print"/>
            <a:stretch>
              <a:fillRect/>
            </a:stretch>
          </p:blipFill>
          <p:spPr>
            <a:xfrm>
              <a:off x="0" y="7653925"/>
              <a:ext cx="18287998" cy="263307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922145">
              <a:lnSpc>
                <a:spcPct val="100000"/>
              </a:lnSpc>
              <a:spcBef>
                <a:spcPts val="100"/>
              </a:spcBef>
            </a:pPr>
            <a:r>
              <a:rPr spc="690" dirty="0"/>
              <a:t>Board</a:t>
            </a:r>
            <a:r>
              <a:rPr spc="470" dirty="0"/>
              <a:t> </a:t>
            </a:r>
            <a:r>
              <a:rPr spc="165" dirty="0"/>
              <a:t>Members</a:t>
            </a:r>
          </a:p>
        </p:txBody>
      </p:sp>
      <p:sp>
        <p:nvSpPr>
          <p:cNvPr id="7" name="object 7"/>
          <p:cNvSpPr txBox="1"/>
          <p:nvPr/>
        </p:nvSpPr>
        <p:spPr>
          <a:xfrm>
            <a:off x="6553200" y="2095736"/>
            <a:ext cx="5831260" cy="6372642"/>
          </a:xfrm>
          <a:prstGeom prst="rect">
            <a:avLst/>
          </a:prstGeom>
        </p:spPr>
        <p:txBody>
          <a:bodyPr vert="horz" wrap="square" lIns="0" tIns="12700" rIns="0" bIns="0" rtlCol="0">
            <a:spAutoFit/>
          </a:bodyPr>
          <a:lstStyle/>
          <a:p>
            <a:pPr marR="129539" algn="ctr">
              <a:lnSpc>
                <a:spcPct val="100000"/>
              </a:lnSpc>
              <a:spcBef>
                <a:spcPts val="100"/>
              </a:spcBef>
            </a:pPr>
            <a:r>
              <a:rPr sz="4000" dirty="0">
                <a:solidFill>
                  <a:srgbClr val="FFFFFF"/>
                </a:solidFill>
                <a:latin typeface="Trebuchet MS"/>
                <a:cs typeface="Trebuchet MS"/>
              </a:rPr>
              <a:t>D</a:t>
            </a:r>
            <a:r>
              <a:rPr lang="en-US" sz="4000" dirty="0">
                <a:solidFill>
                  <a:srgbClr val="FFFFFF"/>
                </a:solidFill>
                <a:latin typeface="Trebuchet MS"/>
                <a:cs typeface="Trebuchet MS"/>
              </a:rPr>
              <a:t>aniella Muli</a:t>
            </a:r>
            <a:endParaRPr sz="4000" dirty="0">
              <a:latin typeface="Trebuchet MS"/>
              <a:cs typeface="Trebuchet MS"/>
            </a:endParaRPr>
          </a:p>
          <a:p>
            <a:pPr marL="12700" marR="5080" indent="-635" algn="ctr">
              <a:lnSpc>
                <a:spcPts val="8480"/>
              </a:lnSpc>
              <a:spcBef>
                <a:spcPts val="690"/>
              </a:spcBef>
            </a:pPr>
            <a:r>
              <a:rPr lang="en-US" sz="4000" spc="-165" dirty="0">
                <a:solidFill>
                  <a:srgbClr val="FFFFFF"/>
                </a:solidFill>
                <a:latin typeface="Trebuchet MS"/>
                <a:cs typeface="Trebuchet MS"/>
              </a:rPr>
              <a:t>Eve Michelle</a:t>
            </a:r>
            <a:r>
              <a:rPr sz="4000" spc="-20" dirty="0">
                <a:solidFill>
                  <a:srgbClr val="FFFFFF"/>
                </a:solidFill>
                <a:latin typeface="Trebuchet MS"/>
                <a:cs typeface="Trebuchet MS"/>
              </a:rPr>
              <a:t> </a:t>
            </a:r>
            <a:endParaRPr lang="en-US" sz="4000" spc="-130" dirty="0">
              <a:solidFill>
                <a:srgbClr val="FFFFFF"/>
              </a:solidFill>
              <a:latin typeface="Trebuchet MS"/>
              <a:cs typeface="Trebuchet MS"/>
            </a:endParaRPr>
          </a:p>
          <a:p>
            <a:pPr marL="12700" marR="5080" indent="-635" algn="ctr">
              <a:lnSpc>
                <a:spcPts val="8480"/>
              </a:lnSpc>
              <a:spcBef>
                <a:spcPts val="690"/>
              </a:spcBef>
            </a:pPr>
            <a:r>
              <a:rPr lang="en-US" sz="4000" spc="-130" dirty="0">
                <a:solidFill>
                  <a:srgbClr val="FFFFFF"/>
                </a:solidFill>
                <a:latin typeface="Trebuchet MS"/>
                <a:cs typeface="Trebuchet MS"/>
              </a:rPr>
              <a:t>Pheonverah Achieng’</a:t>
            </a:r>
          </a:p>
          <a:p>
            <a:pPr marL="12700" marR="5080" indent="-635" algn="ctr">
              <a:lnSpc>
                <a:spcPts val="8480"/>
              </a:lnSpc>
              <a:spcBef>
                <a:spcPts val="690"/>
              </a:spcBef>
            </a:pPr>
            <a:r>
              <a:rPr sz="4000" spc="95" dirty="0">
                <a:solidFill>
                  <a:srgbClr val="FFFFFF"/>
                </a:solidFill>
                <a:latin typeface="Trebuchet MS"/>
                <a:cs typeface="Trebuchet MS"/>
              </a:rPr>
              <a:t> </a:t>
            </a:r>
            <a:r>
              <a:rPr lang="en-US" sz="4000" spc="-45" dirty="0">
                <a:solidFill>
                  <a:srgbClr val="FFFFFF"/>
                </a:solidFill>
                <a:latin typeface="Trebuchet MS"/>
                <a:cs typeface="Trebuchet MS"/>
              </a:rPr>
              <a:t>Naomi Opiyo</a:t>
            </a:r>
            <a:r>
              <a:rPr sz="4000" spc="-10" dirty="0">
                <a:solidFill>
                  <a:srgbClr val="FFFFFF"/>
                </a:solidFill>
                <a:latin typeface="Trebuchet MS"/>
                <a:cs typeface="Trebuchet MS"/>
              </a:rPr>
              <a:t> </a:t>
            </a:r>
            <a:endParaRPr lang="en-US" sz="4000" spc="-10" dirty="0">
              <a:solidFill>
                <a:srgbClr val="FFFFFF"/>
              </a:solidFill>
              <a:latin typeface="Trebuchet MS"/>
              <a:cs typeface="Trebuchet MS"/>
            </a:endParaRPr>
          </a:p>
          <a:p>
            <a:pPr marL="12700" marR="5080" indent="-635" algn="ctr">
              <a:lnSpc>
                <a:spcPts val="8480"/>
              </a:lnSpc>
              <a:spcBef>
                <a:spcPts val="690"/>
              </a:spcBef>
            </a:pPr>
            <a:r>
              <a:rPr lang="en-US" sz="4000" dirty="0">
                <a:solidFill>
                  <a:srgbClr val="FFFFFF"/>
                </a:solidFill>
                <a:latin typeface="Trebuchet MS"/>
                <a:cs typeface="Trebuchet MS"/>
              </a:rPr>
              <a:t>Jack Mwangi</a:t>
            </a:r>
          </a:p>
          <a:p>
            <a:pPr marL="12700" marR="5080" indent="-635" algn="ctr">
              <a:lnSpc>
                <a:spcPts val="8480"/>
              </a:lnSpc>
              <a:spcBef>
                <a:spcPts val="690"/>
              </a:spcBef>
            </a:pPr>
            <a:endParaRPr sz="4000" dirty="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sp>
          <p:nvSpPr>
            <p:cNvPr id="3" name="object 3"/>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p:cNvPicPr/>
            <p:nvPr/>
          </p:nvPicPr>
          <p:blipFill>
            <a:blip r:embed="rId2" cstate="print"/>
            <a:stretch>
              <a:fillRect/>
            </a:stretch>
          </p:blipFill>
          <p:spPr>
            <a:xfrm>
              <a:off x="0" y="7653925"/>
              <a:ext cx="18287998" cy="2633074"/>
            </a:xfrm>
            <a:prstGeom prst="rect">
              <a:avLst/>
            </a:prstGeom>
          </p:spPr>
        </p:pic>
      </p:grpSp>
      <p:sp>
        <p:nvSpPr>
          <p:cNvPr id="6" name="object 6"/>
          <p:cNvSpPr txBox="1">
            <a:spLocks noGrp="1"/>
          </p:cNvSpPr>
          <p:nvPr>
            <p:ph type="title"/>
          </p:nvPr>
        </p:nvSpPr>
        <p:spPr>
          <a:xfrm>
            <a:off x="3958605" y="308006"/>
            <a:ext cx="10478496"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Introduction:</a:t>
            </a:r>
            <a:endParaRPr sz="4000" spc="760" dirty="0">
              <a:latin typeface="Times New Roman" panose="02020603050405020304" pitchFamily="18" charset="0"/>
              <a:cs typeface="Times New Roman" panose="02020603050405020304" pitchFamily="18" charset="0"/>
            </a:endParaRPr>
          </a:p>
        </p:txBody>
      </p:sp>
      <p:sp>
        <p:nvSpPr>
          <p:cNvPr id="7" name="object 7"/>
          <p:cNvSpPr txBox="1">
            <a:spLocks noGrp="1"/>
          </p:cNvSpPr>
          <p:nvPr>
            <p:ph type="body" idx="1"/>
          </p:nvPr>
        </p:nvSpPr>
        <p:spPr>
          <a:xfrm>
            <a:off x="1295400" y="1333500"/>
            <a:ext cx="15977041" cy="6540893"/>
          </a:xfrm>
          <a:prstGeom prst="rect">
            <a:avLst/>
          </a:prstGeom>
        </p:spPr>
        <p:txBody>
          <a:bodyPr vert="horz" wrap="square" lIns="0" tIns="12065" rIns="0" bIns="0" rtlCol="0">
            <a:spAutoFit/>
          </a:bodyPr>
          <a:lstStyle/>
          <a:p>
            <a:pPr marL="342900" indent="-342900" algn="just">
              <a:lnSpc>
                <a:spcPts val="4620"/>
              </a:lnSpc>
              <a:buFont typeface="Arial" panose="020B0604020202020204" pitchFamily="34" charset="0"/>
              <a:buChar char="•"/>
            </a:pPr>
            <a:r>
              <a:rPr lang="en-US" sz="2400" dirty="0">
                <a:solidFill>
                  <a:srgbClr val="FFFFFF"/>
                </a:solidFill>
                <a:latin typeface="Times New Roman" panose="02020603050405020304" pitchFamily="18" charset="0"/>
                <a:ea typeface="Glacial Indifference"/>
                <a:cs typeface="Times New Roman" panose="02020603050405020304" pitchFamily="18" charset="0"/>
                <a:sym typeface="Glacial Indifference"/>
              </a:rPr>
              <a:t>The entertainment industry has undergone revolutionary transformation in recent years, with data-driven decision-making emerging as the cornerstone of success in film production.</a:t>
            </a:r>
          </a:p>
          <a:p>
            <a:pPr marL="457200" indent="-457200" algn="just">
              <a:lnSpc>
                <a:spcPts val="4620"/>
              </a:lnSpc>
              <a:buFont typeface="Arial" panose="020B0604020202020204" pitchFamily="34" charset="0"/>
              <a:buChar char="•"/>
            </a:pPr>
            <a:r>
              <a:rPr lang="en-US" sz="2400" dirty="0">
                <a:solidFill>
                  <a:srgbClr val="FFFFFF"/>
                </a:solidFill>
                <a:latin typeface="Times New Roman" panose="02020603050405020304" pitchFamily="18" charset="0"/>
                <a:ea typeface="Glacial Indifference"/>
                <a:cs typeface="Times New Roman" panose="02020603050405020304" pitchFamily="18" charset="0"/>
                <a:sym typeface="Glacial Indifference"/>
              </a:rPr>
              <a:t>Companies like Netflix, Amazon Studios and A24 have demonstrated that combining creative vision with rigorous statistical analysis produces superior outcomes compared to solely relying on industry conventions and gut feeling.</a:t>
            </a:r>
          </a:p>
          <a:p>
            <a:pPr marL="457200" indent="-457200" algn="just">
              <a:lnSpc>
                <a:spcPts val="4620"/>
              </a:lnSpc>
              <a:buFont typeface="Arial" panose="020B0604020202020204" pitchFamily="34" charset="0"/>
              <a:buChar char="•"/>
            </a:pPr>
            <a:r>
              <a:rPr lang="en-US" sz="2400" dirty="0">
                <a:solidFill>
                  <a:srgbClr val="FFFFFF"/>
                </a:solidFill>
                <a:latin typeface="Times New Roman" panose="02020603050405020304" pitchFamily="18" charset="0"/>
                <a:ea typeface="Glacial Indifference"/>
                <a:cs typeface="Times New Roman" panose="02020603050405020304" pitchFamily="18" charset="0"/>
                <a:sym typeface="Glacial Indifference"/>
              </a:rPr>
              <a:t>A proper case study would when Netflix greenlit their famous series titled ‘House of Cards’. This was not based on gut feeling or traditional pitches but rather the company banked on the data showing that audiences that enjoyed political dramas also had strong interests in Kevin Spacey’s performance and David Fincher’s directorial style.</a:t>
            </a:r>
          </a:p>
          <a:p>
            <a:pPr marL="457200" indent="-457200" algn="just">
              <a:lnSpc>
                <a:spcPts val="4620"/>
              </a:lnSpc>
              <a:buFont typeface="Arial" panose="020B0604020202020204" pitchFamily="34" charset="0"/>
              <a:buChar char="•"/>
            </a:pPr>
            <a:r>
              <a:rPr lang="en-US" sz="2400" dirty="0">
                <a:solidFill>
                  <a:srgbClr val="FFFFFF"/>
                </a:solidFill>
                <a:latin typeface="Glacial Indifference"/>
                <a:ea typeface="Glacial Indifference"/>
                <a:cs typeface="Glacial Indifference"/>
                <a:sym typeface="Glacial Indifference"/>
              </a:rPr>
              <a:t> </a:t>
            </a:r>
            <a:r>
              <a:rPr lang="en-US" sz="2400" dirty="0">
                <a:solidFill>
                  <a:srgbClr val="FFFFFF"/>
                </a:solidFill>
                <a:latin typeface="Times New Roman" panose="02020603050405020304" pitchFamily="18" charset="0"/>
                <a:ea typeface="Glacial Indifference"/>
                <a:cs typeface="Times New Roman" panose="02020603050405020304" pitchFamily="18" charset="0"/>
                <a:sym typeface="Glacial Indifference"/>
              </a:rPr>
              <a:t>As YE Studios enters this competitive landscape, we face the challenge industry leaders such as Netflix overcame i.e. how to translate vast amount of data into actionable insights that drive commercial success. </a:t>
            </a:r>
          </a:p>
          <a:p>
            <a:pPr marL="457200" indent="-457200" algn="just">
              <a:lnSpc>
                <a:spcPts val="4620"/>
              </a:lnSpc>
              <a:buFont typeface="Arial" panose="020B0604020202020204" pitchFamily="34" charset="0"/>
              <a:buChar char="•"/>
            </a:pPr>
            <a:r>
              <a:rPr lang="en-US" sz="2400" dirty="0">
                <a:solidFill>
                  <a:srgbClr val="FFFFFF"/>
                </a:solidFill>
                <a:latin typeface="Times New Roman" panose="02020603050405020304" pitchFamily="18" charset="0"/>
                <a:ea typeface="Glacial Indifference"/>
                <a:cs typeface="Times New Roman" panose="02020603050405020304" pitchFamily="18" charset="0"/>
                <a:sym typeface="Glacial Indifference"/>
              </a:rPr>
              <a:t>This project delves into the intricate world of cinema, examining factors that transform films into box office hits.</a:t>
            </a:r>
          </a:p>
          <a:p>
            <a:pPr marL="12700" marR="5080" algn="just">
              <a:lnSpc>
                <a:spcPct val="116700"/>
              </a:lnSpc>
              <a:spcBef>
                <a:spcPts val="95"/>
              </a:spcBef>
            </a:pPr>
            <a:endParaRPr spc="-1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123D1-5462-6AA3-FB1F-0DBB057E293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3204EDF4-672F-8228-32E7-8584D8F41C24}"/>
              </a:ext>
            </a:extLst>
          </p:cNvPr>
          <p:cNvGrpSpPr/>
          <p:nvPr/>
        </p:nvGrpSpPr>
        <p:grpSpPr>
          <a:xfrm>
            <a:off x="0" y="0"/>
            <a:ext cx="18288000" cy="10287000"/>
            <a:chOff x="0" y="0"/>
            <a:chExt cx="18288000" cy="10287000"/>
          </a:xfrm>
        </p:grpSpPr>
        <p:sp>
          <p:nvSpPr>
            <p:cNvPr id="3" name="object 3">
              <a:extLst>
                <a:ext uri="{FF2B5EF4-FFF2-40B4-BE49-F238E27FC236}">
                  <a16:creationId xmlns:a16="http://schemas.microsoft.com/office/drawing/2014/main" id="{10776AB7-F7B5-0F20-C436-FE735D4A2FE7}"/>
                </a:ext>
              </a:extLst>
            </p:cNvPr>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A8C8CF4B-CDD9-83AB-25BE-6E4BDB5E10DF}"/>
                </a:ext>
              </a:extLst>
            </p:cNvPr>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a:extLst>
                <a:ext uri="{FF2B5EF4-FFF2-40B4-BE49-F238E27FC236}">
                  <a16:creationId xmlns:a16="http://schemas.microsoft.com/office/drawing/2014/main" id="{F2869518-6B80-292C-803E-22C3AA6E1209}"/>
                </a:ext>
              </a:extLst>
            </p:cNvPr>
            <p:cNvPicPr/>
            <p:nvPr/>
          </p:nvPicPr>
          <p:blipFill>
            <a:blip r:embed="rId2" cstate="print"/>
            <a:stretch>
              <a:fillRect/>
            </a:stretch>
          </p:blipFill>
          <p:spPr>
            <a:xfrm>
              <a:off x="0" y="7653925"/>
              <a:ext cx="18287998" cy="2633074"/>
            </a:xfrm>
            <a:prstGeom prst="rect">
              <a:avLst/>
            </a:prstGeom>
          </p:spPr>
        </p:pic>
      </p:grpSp>
      <p:sp>
        <p:nvSpPr>
          <p:cNvPr id="6" name="object 6">
            <a:extLst>
              <a:ext uri="{FF2B5EF4-FFF2-40B4-BE49-F238E27FC236}">
                <a16:creationId xmlns:a16="http://schemas.microsoft.com/office/drawing/2014/main" id="{C76CBC70-2930-78F1-A831-E7E15B19C0B9}"/>
              </a:ext>
            </a:extLst>
          </p:cNvPr>
          <p:cNvSpPr txBox="1">
            <a:spLocks noGrp="1"/>
          </p:cNvSpPr>
          <p:nvPr>
            <p:ph type="title"/>
          </p:nvPr>
        </p:nvSpPr>
        <p:spPr>
          <a:xfrm>
            <a:off x="2514600" y="308007"/>
            <a:ext cx="13487399"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Business Understanding:</a:t>
            </a:r>
            <a:endParaRPr sz="4000" spc="760" dirty="0">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EF55FC97-BF30-F2AA-F790-E27EBCDF5ED8}"/>
              </a:ext>
            </a:extLst>
          </p:cNvPr>
          <p:cNvSpPr txBox="1">
            <a:spLocks noGrp="1"/>
          </p:cNvSpPr>
          <p:nvPr>
            <p:ph type="body" idx="1"/>
          </p:nvPr>
        </p:nvSpPr>
        <p:spPr>
          <a:xfrm>
            <a:off x="1295400" y="1333500"/>
            <a:ext cx="15977041" cy="4560607"/>
          </a:xfrm>
          <a:prstGeom prst="rect">
            <a:avLst/>
          </a:prstGeom>
        </p:spPr>
        <p:txBody>
          <a:bodyPr vert="horz" wrap="square" lIns="0" tIns="12065" rIns="0" bIns="0" rtlCol="0">
            <a:spAutoFit/>
          </a:bodyPr>
          <a:lstStyle/>
          <a:p>
            <a:pPr marL="457200" indent="-457200" algn="just">
              <a:lnSpc>
                <a:spcPts val="4620"/>
              </a:lnSpc>
              <a:buFont typeface="Wingdings" panose="05000000000000000000" pitchFamily="2" charset="2"/>
              <a:buChar char="v"/>
            </a:pPr>
            <a:r>
              <a:rPr lang="en-US" sz="2400" b="1" spc="-10" dirty="0">
                <a:latin typeface="Times New Roman" panose="02020603050405020304" pitchFamily="18" charset="0"/>
                <a:cs typeface="Times New Roman" panose="02020603050405020304" pitchFamily="18" charset="0"/>
              </a:rPr>
              <a:t>Business Context: </a:t>
            </a:r>
            <a:r>
              <a:rPr lang="en-US" sz="2400" spc="-10" dirty="0">
                <a:latin typeface="Times New Roman" panose="02020603050405020304" pitchFamily="18" charset="0"/>
                <a:cs typeface="Times New Roman" panose="02020603050405020304" pitchFamily="18" charset="0"/>
              </a:rPr>
              <a:t>YE Studios is entering the high-stakes global film industry. To minimize entry risk, we are deploying a data-driven framework to identify high-Return-On-Investment content and optimal financial structures.</a:t>
            </a:r>
          </a:p>
          <a:p>
            <a:pPr algn="just">
              <a:lnSpc>
                <a:spcPts val="4620"/>
              </a:lnSpc>
            </a:pPr>
            <a:endParaRPr lang="en-US" sz="2400" spc="-10" dirty="0">
              <a:latin typeface="Times New Roman" panose="02020603050405020304" pitchFamily="18" charset="0"/>
              <a:cs typeface="Times New Roman" panose="02020603050405020304" pitchFamily="18" charset="0"/>
            </a:endParaRPr>
          </a:p>
          <a:p>
            <a:pPr algn="just">
              <a:lnSpc>
                <a:spcPts val="4620"/>
              </a:lnSpc>
            </a:pPr>
            <a:endParaRPr lang="en-US" sz="2400" spc="-10" dirty="0">
              <a:latin typeface="Times New Roman" panose="02020603050405020304" pitchFamily="18" charset="0"/>
              <a:cs typeface="Times New Roman" panose="02020603050405020304" pitchFamily="18" charset="0"/>
            </a:endParaRPr>
          </a:p>
          <a:p>
            <a:pPr marL="469900" marR="5080" indent="-457200" algn="just">
              <a:lnSpc>
                <a:spcPct val="116700"/>
              </a:lnSpc>
              <a:spcBef>
                <a:spcPts val="95"/>
              </a:spcBef>
              <a:buFont typeface="Wingdings" panose="05000000000000000000" pitchFamily="2" charset="2"/>
              <a:buChar char="v"/>
            </a:pPr>
            <a:r>
              <a:rPr lang="en-US" sz="2400" b="1" spc="-10" dirty="0">
                <a:latin typeface="Times New Roman" panose="02020603050405020304" pitchFamily="18" charset="0"/>
                <a:cs typeface="Times New Roman" panose="02020603050405020304" pitchFamily="18" charset="0"/>
              </a:rPr>
              <a:t>Stakeholder Needs:</a:t>
            </a:r>
          </a:p>
          <a:p>
            <a:pPr marL="12700" marR="5080" algn="just">
              <a:lnSpc>
                <a:spcPct val="116700"/>
              </a:lnSpc>
              <a:spcBef>
                <a:spcPts val="95"/>
              </a:spcBef>
            </a:pPr>
            <a:endParaRPr lang="en-US" sz="2400" spc="-10" dirty="0">
              <a:latin typeface="Times New Roman" panose="02020603050405020304" pitchFamily="18" charset="0"/>
              <a:cs typeface="Times New Roman" panose="02020603050405020304" pitchFamily="18" charset="0"/>
            </a:endParaRPr>
          </a:p>
          <a:p>
            <a:pPr marL="12700" marR="5080" algn="just">
              <a:lnSpc>
                <a:spcPct val="116700"/>
              </a:lnSpc>
              <a:spcBef>
                <a:spcPts val="95"/>
              </a:spcBef>
            </a:pPr>
            <a:r>
              <a:rPr lang="en-US" sz="2400" spc="-10" dirty="0">
                <a:latin typeface="Times New Roman" panose="02020603050405020304" pitchFamily="18" charset="0"/>
                <a:cs typeface="Times New Roman" panose="02020603050405020304" pitchFamily="18" charset="0"/>
              </a:rPr>
              <a:t>     </a:t>
            </a:r>
            <a:r>
              <a:rPr lang="en-US" sz="2400" b="1" spc="-10" dirty="0">
                <a:latin typeface="Times New Roman" panose="02020603050405020304" pitchFamily="18" charset="0"/>
                <a:cs typeface="Times New Roman" panose="02020603050405020304" pitchFamily="18" charset="0"/>
              </a:rPr>
              <a:t>Chief Financial Officer(CFO):</a:t>
            </a:r>
            <a:r>
              <a:rPr lang="en-US" sz="2400" spc="-10" dirty="0">
                <a:latin typeface="Times New Roman" panose="02020603050405020304" pitchFamily="18" charset="0"/>
                <a:cs typeface="Times New Roman" panose="02020603050405020304" pitchFamily="18" charset="0"/>
              </a:rPr>
              <a:t> Budget “sweet spots” and Return on Investments predictability to protect    capital</a:t>
            </a:r>
          </a:p>
          <a:p>
            <a:pPr marL="12700" marR="5080" algn="just">
              <a:lnSpc>
                <a:spcPct val="116700"/>
              </a:lnSpc>
              <a:spcBef>
                <a:spcPts val="95"/>
              </a:spcBef>
            </a:pPr>
            <a:r>
              <a:rPr lang="en-US" sz="2400" spc="-10" dirty="0">
                <a:latin typeface="Times New Roman" panose="02020603050405020304" pitchFamily="18" charset="0"/>
                <a:cs typeface="Times New Roman" panose="02020603050405020304" pitchFamily="18" charset="0"/>
              </a:rPr>
              <a:t>     </a:t>
            </a:r>
            <a:r>
              <a:rPr lang="en-US" sz="2400" b="1" spc="-10" dirty="0">
                <a:latin typeface="Times New Roman" panose="02020603050405020304" pitchFamily="18" charset="0"/>
                <a:cs typeface="Times New Roman" panose="02020603050405020304" pitchFamily="18" charset="0"/>
              </a:rPr>
              <a:t>Chief Executive Officer(CEO): </a:t>
            </a:r>
            <a:r>
              <a:rPr lang="en-US" sz="2400" spc="-10" dirty="0">
                <a:latin typeface="Times New Roman" panose="02020603050405020304" pitchFamily="18" charset="0"/>
                <a:cs typeface="Times New Roman" panose="02020603050405020304" pitchFamily="18" charset="0"/>
              </a:rPr>
              <a:t>Brand positioning through high-quality, high-engagement content.</a:t>
            </a:r>
          </a:p>
          <a:p>
            <a:pPr marL="12700" marR="5080" algn="just">
              <a:lnSpc>
                <a:spcPct val="116700"/>
              </a:lnSpc>
              <a:spcBef>
                <a:spcPts val="95"/>
              </a:spcBef>
            </a:pPr>
            <a:r>
              <a:rPr lang="en-US" sz="2400" spc="-10" dirty="0">
                <a:latin typeface="Times New Roman" panose="02020603050405020304" pitchFamily="18" charset="0"/>
                <a:cs typeface="Times New Roman" panose="02020603050405020304" pitchFamily="18" charset="0"/>
              </a:rPr>
              <a:t>     </a:t>
            </a:r>
            <a:r>
              <a:rPr lang="en-US" sz="2400" b="1" spc="-10" dirty="0">
                <a:latin typeface="Times New Roman" panose="02020603050405020304" pitchFamily="18" charset="0"/>
                <a:cs typeface="Times New Roman" panose="02020603050405020304" pitchFamily="18" charset="0"/>
              </a:rPr>
              <a:t>Board Of Investors: </a:t>
            </a:r>
            <a:r>
              <a:rPr lang="en-US" sz="2400" spc="-10" dirty="0">
                <a:latin typeface="Times New Roman" panose="02020603050405020304" pitchFamily="18" charset="0"/>
                <a:cs typeface="Times New Roman" panose="02020603050405020304" pitchFamily="18" charset="0"/>
              </a:rPr>
              <a:t>A risk mitigated expansion strategy based on global market demand.</a:t>
            </a:r>
            <a:endParaRPr sz="2400"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672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AD50E-91D1-AD84-6093-B3C9492DD19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3A410040-9DB3-7765-CA6E-DE0F46FF1507}"/>
              </a:ext>
            </a:extLst>
          </p:cNvPr>
          <p:cNvGrpSpPr/>
          <p:nvPr/>
        </p:nvGrpSpPr>
        <p:grpSpPr>
          <a:xfrm>
            <a:off x="0" y="0"/>
            <a:ext cx="18288000" cy="10287000"/>
            <a:chOff x="0" y="0"/>
            <a:chExt cx="18288000" cy="10287000"/>
          </a:xfrm>
        </p:grpSpPr>
        <p:sp>
          <p:nvSpPr>
            <p:cNvPr id="3" name="object 3">
              <a:extLst>
                <a:ext uri="{FF2B5EF4-FFF2-40B4-BE49-F238E27FC236}">
                  <a16:creationId xmlns:a16="http://schemas.microsoft.com/office/drawing/2014/main" id="{65E4CC26-1DC4-7489-DE7C-D729AF7B936E}"/>
                </a:ext>
              </a:extLst>
            </p:cNvPr>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53515990-3DA8-C852-C817-4BE6F4C47406}"/>
                </a:ext>
              </a:extLst>
            </p:cNvPr>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a:extLst>
                <a:ext uri="{FF2B5EF4-FFF2-40B4-BE49-F238E27FC236}">
                  <a16:creationId xmlns:a16="http://schemas.microsoft.com/office/drawing/2014/main" id="{757F343B-BFB4-B947-1856-8E1726E31580}"/>
                </a:ext>
              </a:extLst>
            </p:cNvPr>
            <p:cNvPicPr/>
            <p:nvPr/>
          </p:nvPicPr>
          <p:blipFill>
            <a:blip r:embed="rId2" cstate="print"/>
            <a:stretch>
              <a:fillRect/>
            </a:stretch>
          </p:blipFill>
          <p:spPr>
            <a:xfrm>
              <a:off x="0" y="7653925"/>
              <a:ext cx="18287998" cy="2633074"/>
            </a:xfrm>
            <a:prstGeom prst="rect">
              <a:avLst/>
            </a:prstGeom>
          </p:spPr>
        </p:pic>
      </p:grpSp>
      <p:sp>
        <p:nvSpPr>
          <p:cNvPr id="6" name="object 6">
            <a:extLst>
              <a:ext uri="{FF2B5EF4-FFF2-40B4-BE49-F238E27FC236}">
                <a16:creationId xmlns:a16="http://schemas.microsoft.com/office/drawing/2014/main" id="{CDF1638D-C3A0-8EFD-0CDA-92A60F4EC183}"/>
              </a:ext>
            </a:extLst>
          </p:cNvPr>
          <p:cNvSpPr txBox="1">
            <a:spLocks noGrp="1"/>
          </p:cNvSpPr>
          <p:nvPr>
            <p:ph type="title"/>
          </p:nvPr>
        </p:nvSpPr>
        <p:spPr>
          <a:xfrm>
            <a:off x="2514600" y="308007"/>
            <a:ext cx="13487399"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Data Understanding &amp; Integration:</a:t>
            </a:r>
            <a:endParaRPr sz="4000" spc="760" dirty="0">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44205BEE-4DA0-255A-8D0B-EABFB289FB3E}"/>
              </a:ext>
            </a:extLst>
          </p:cNvPr>
          <p:cNvSpPr txBox="1">
            <a:spLocks noGrp="1"/>
          </p:cNvSpPr>
          <p:nvPr>
            <p:ph type="body" idx="1"/>
          </p:nvPr>
        </p:nvSpPr>
        <p:spPr>
          <a:xfrm>
            <a:off x="1295400" y="1333500"/>
            <a:ext cx="15977041" cy="6475491"/>
          </a:xfrm>
          <a:prstGeom prst="rect">
            <a:avLst/>
          </a:prstGeom>
        </p:spPr>
        <p:txBody>
          <a:bodyPr vert="horz" wrap="square" lIns="0" tIns="12065" rIns="0" bIns="0" rtlCol="0">
            <a:spAutoFit/>
          </a:bodyPr>
          <a:lstStyle/>
          <a:p>
            <a:pPr algn="l">
              <a:spcBef>
                <a:spcPts val="1200"/>
              </a:spcBef>
              <a:spcAft>
                <a:spcPts val="1200"/>
              </a:spcAft>
              <a:buNone/>
            </a:pPr>
            <a:r>
              <a:rPr lang="en-US" sz="2400" spc="-10" dirty="0">
                <a:latin typeface="Times New Roman" panose="02020603050405020304" pitchFamily="18" charset="0"/>
                <a:cs typeface="Times New Roman" panose="02020603050405020304" pitchFamily="18" charset="0"/>
              </a:rPr>
              <a:t>Our analysis integrates five authoritative datasets, each offering unique dimensions of film performance:</a:t>
            </a:r>
          </a:p>
          <a:p>
            <a:pPr algn="l">
              <a:spcBef>
                <a:spcPts val="1200"/>
              </a:spcBef>
              <a:spcAft>
                <a:spcPts val="1200"/>
              </a:spcAft>
              <a:buNone/>
            </a:pPr>
            <a:endParaRPr lang="en-US" sz="2400" spc="-10" dirty="0">
              <a:latin typeface="Times New Roman" panose="02020603050405020304" pitchFamily="18" charset="0"/>
              <a:cs typeface="Times New Roman" panose="02020603050405020304" pitchFamily="18" charset="0"/>
            </a:endParaRPr>
          </a:p>
          <a:p>
            <a:pPr marL="342900" indent="-342900" algn="l">
              <a:spcBef>
                <a:spcPts val="1200"/>
              </a:spcBef>
              <a:spcAft>
                <a:spcPts val="1200"/>
              </a:spcAft>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Internet Movie Database(IMDB)-audience ratings, genre, runtime, votes(quality and popularity)</a:t>
            </a:r>
          </a:p>
          <a:p>
            <a:pPr marL="342900" indent="-342900" algn="l">
              <a:spcBef>
                <a:spcPts val="1200"/>
              </a:spcBef>
              <a:spcAft>
                <a:spcPts val="1200"/>
              </a:spcAft>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Box Office Mojo-Domestic/international revenue, studio, release timing.</a:t>
            </a:r>
          </a:p>
          <a:p>
            <a:pPr marL="342900" indent="-342900" algn="l">
              <a:spcBef>
                <a:spcPts val="1200"/>
              </a:spcBef>
              <a:spcAft>
                <a:spcPts val="1200"/>
              </a:spcAft>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Rotten Tomatoes-Critical/audience scores, rating, director(critical reception)</a:t>
            </a:r>
          </a:p>
          <a:p>
            <a:pPr marL="342900" indent="-342900" algn="l">
              <a:spcBef>
                <a:spcPts val="1200"/>
              </a:spcBef>
              <a:spcAft>
                <a:spcPts val="1200"/>
              </a:spcAft>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The Movie Database9TMDB)-Popularity score, genre IDs, original language(engagement)</a:t>
            </a:r>
          </a:p>
          <a:p>
            <a:pPr marL="342900" indent="-342900" algn="l">
              <a:spcBef>
                <a:spcPts val="1200"/>
              </a:spcBef>
              <a:spcAft>
                <a:spcPts val="1200"/>
              </a:spcAft>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The Numbers- Production budget, ROI, worldwide gross</a:t>
            </a:r>
          </a:p>
          <a:p>
            <a:pPr marL="342900" indent="-342900" algn="l">
              <a:spcBef>
                <a:spcPts val="1200"/>
              </a:spcBef>
              <a:spcAft>
                <a:spcPts val="1200"/>
              </a:spcAft>
              <a:buFont typeface="Wingdings" panose="05000000000000000000" pitchFamily="2" charset="2"/>
              <a:buChar char="v"/>
            </a:pPr>
            <a:endParaRPr lang="en-US" sz="2400" spc="-10" dirty="0">
              <a:latin typeface="Times New Roman" panose="02020603050405020304" pitchFamily="18" charset="0"/>
              <a:cs typeface="Times New Roman" panose="02020603050405020304" pitchFamily="18" charset="0"/>
            </a:endParaRPr>
          </a:p>
          <a:p>
            <a:pPr algn="l">
              <a:spcBef>
                <a:spcPts val="1200"/>
              </a:spcBef>
              <a:spcAft>
                <a:spcPts val="1200"/>
              </a:spcAft>
            </a:pPr>
            <a:r>
              <a:rPr lang="en-US" sz="2400" spc="-10" dirty="0">
                <a:latin typeface="Times New Roman" panose="02020603050405020304" pitchFamily="18" charset="0"/>
                <a:cs typeface="Times New Roman" panose="02020603050405020304" pitchFamily="18" charset="0"/>
              </a:rPr>
              <a:t>Together, they provide a 360-degree view of what drives success, from audience sentiment to global revenue and profitability</a:t>
            </a:r>
          </a:p>
          <a:p>
            <a:pPr algn="l">
              <a:spcBef>
                <a:spcPts val="1200"/>
              </a:spcBef>
              <a:spcAft>
                <a:spcPts val="1200"/>
              </a:spcAft>
              <a:buNone/>
            </a:pPr>
            <a:endParaRPr lang="en-US" sz="2400"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4340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E026A-D2B4-910C-8365-A1C0981B2E9E}"/>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40C124D5-381B-73C7-B307-8B4164E33640}"/>
              </a:ext>
            </a:extLst>
          </p:cNvPr>
          <p:cNvGrpSpPr/>
          <p:nvPr/>
        </p:nvGrpSpPr>
        <p:grpSpPr>
          <a:xfrm>
            <a:off x="0" y="0"/>
            <a:ext cx="18288000" cy="10287000"/>
            <a:chOff x="0" y="0"/>
            <a:chExt cx="18288000" cy="10287000"/>
          </a:xfrm>
        </p:grpSpPr>
        <p:sp>
          <p:nvSpPr>
            <p:cNvPr id="3" name="object 3">
              <a:extLst>
                <a:ext uri="{FF2B5EF4-FFF2-40B4-BE49-F238E27FC236}">
                  <a16:creationId xmlns:a16="http://schemas.microsoft.com/office/drawing/2014/main" id="{9037E0F7-4B74-D217-192D-4C9C79576D70}"/>
                </a:ext>
              </a:extLst>
            </p:cNvPr>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4E3F8036-74BA-6EFD-AA3B-CA7590EDADC5}"/>
                </a:ext>
              </a:extLst>
            </p:cNvPr>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a:extLst>
                <a:ext uri="{FF2B5EF4-FFF2-40B4-BE49-F238E27FC236}">
                  <a16:creationId xmlns:a16="http://schemas.microsoft.com/office/drawing/2014/main" id="{C2C7EC18-C87D-3E31-4791-49A83A021E31}"/>
                </a:ext>
              </a:extLst>
            </p:cNvPr>
            <p:cNvPicPr/>
            <p:nvPr/>
          </p:nvPicPr>
          <p:blipFill>
            <a:blip r:embed="rId2" cstate="print"/>
            <a:stretch>
              <a:fillRect/>
            </a:stretch>
          </p:blipFill>
          <p:spPr>
            <a:xfrm>
              <a:off x="0" y="7653925"/>
              <a:ext cx="18287998" cy="2633074"/>
            </a:xfrm>
            <a:prstGeom prst="rect">
              <a:avLst/>
            </a:prstGeom>
          </p:spPr>
        </p:pic>
      </p:grpSp>
      <p:sp>
        <p:nvSpPr>
          <p:cNvPr id="6" name="object 6">
            <a:extLst>
              <a:ext uri="{FF2B5EF4-FFF2-40B4-BE49-F238E27FC236}">
                <a16:creationId xmlns:a16="http://schemas.microsoft.com/office/drawing/2014/main" id="{3FC58BDA-BFC7-0A05-4937-19ABB72A4D32}"/>
              </a:ext>
            </a:extLst>
          </p:cNvPr>
          <p:cNvSpPr txBox="1">
            <a:spLocks noGrp="1"/>
          </p:cNvSpPr>
          <p:nvPr>
            <p:ph type="title"/>
          </p:nvPr>
        </p:nvSpPr>
        <p:spPr>
          <a:xfrm>
            <a:off x="2514600" y="308007"/>
            <a:ext cx="13487399"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Data Analysis:</a:t>
            </a:r>
            <a:endParaRPr sz="4000" spc="760" dirty="0">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DC9CCABC-0326-D7DA-8B29-A144C5D350BA}"/>
              </a:ext>
            </a:extLst>
          </p:cNvPr>
          <p:cNvSpPr txBox="1">
            <a:spLocks noGrp="1"/>
          </p:cNvSpPr>
          <p:nvPr>
            <p:ph type="body" idx="1"/>
          </p:nvPr>
        </p:nvSpPr>
        <p:spPr>
          <a:xfrm>
            <a:off x="1295400" y="1333500"/>
            <a:ext cx="15977041" cy="4066178"/>
          </a:xfrm>
          <a:prstGeom prst="rect">
            <a:avLst/>
          </a:prstGeom>
        </p:spPr>
        <p:txBody>
          <a:bodyPr vert="horz" wrap="square" lIns="0" tIns="12065" rIns="0" bIns="0" rtlCol="0">
            <a:spAutoFit/>
          </a:bodyPr>
          <a:lstStyle/>
          <a:p>
            <a:pPr algn="just">
              <a:lnSpc>
                <a:spcPts val="4620"/>
              </a:lnSpc>
            </a:pPr>
            <a:r>
              <a:rPr lang="en-US" sz="2400" spc="-10" dirty="0">
                <a:latin typeface="Times New Roman" panose="02020603050405020304" pitchFamily="18" charset="0"/>
                <a:cs typeface="Times New Roman" panose="02020603050405020304" pitchFamily="18" charset="0"/>
              </a:rPr>
              <a:t>Our analysis focuses on four critical domains:</a:t>
            </a:r>
          </a:p>
          <a:p>
            <a:pPr algn="l">
              <a:lnSpc>
                <a:spcPts val="4620"/>
              </a:lnSpc>
            </a:pPr>
            <a:endParaRPr lang="en-US" sz="2400" spc="-10" dirty="0">
              <a:latin typeface="Times New Roman" panose="02020603050405020304" pitchFamily="18" charset="0"/>
              <a:cs typeface="Times New Roman" panose="02020603050405020304" pitchFamily="18" charset="0"/>
            </a:endParaRPr>
          </a:p>
          <a:p>
            <a:pPr marL="342900" indent="-342900" algn="l">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Financial Optimization</a:t>
            </a:r>
          </a:p>
          <a:p>
            <a:pPr marL="342900" indent="-342900" algn="l">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Genre &amp; Content Strategy</a:t>
            </a:r>
          </a:p>
          <a:p>
            <a:pPr marL="342900" indent="-342900" algn="l">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Market Dynamics</a:t>
            </a:r>
          </a:p>
          <a:p>
            <a:pPr marL="342900" indent="-342900" algn="l">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Competitive Positioning</a:t>
            </a:r>
          </a:p>
          <a:p>
            <a:pPr algn="just">
              <a:lnSpc>
                <a:spcPts val="4620"/>
              </a:lnSpc>
            </a:pPr>
            <a:endParaRPr lang="en-US" sz="2400"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4099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8832B-5956-EEF6-915B-C43F2C908095}"/>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99A684DD-A946-CFDB-29BD-22372A60841A}"/>
              </a:ext>
            </a:extLst>
          </p:cNvPr>
          <p:cNvGrpSpPr/>
          <p:nvPr/>
        </p:nvGrpSpPr>
        <p:grpSpPr>
          <a:xfrm>
            <a:off x="0" y="0"/>
            <a:ext cx="18288000" cy="10287000"/>
            <a:chOff x="0" y="0"/>
            <a:chExt cx="18288000" cy="10287000"/>
          </a:xfrm>
        </p:grpSpPr>
        <p:sp>
          <p:nvSpPr>
            <p:cNvPr id="3" name="object 3">
              <a:extLst>
                <a:ext uri="{FF2B5EF4-FFF2-40B4-BE49-F238E27FC236}">
                  <a16:creationId xmlns:a16="http://schemas.microsoft.com/office/drawing/2014/main" id="{81966CA3-1333-20A9-7DE1-445B950995B7}"/>
                </a:ext>
              </a:extLst>
            </p:cNvPr>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72B2FC27-33E9-45AE-5002-AD351D32C5F2}"/>
                </a:ext>
              </a:extLst>
            </p:cNvPr>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a:extLst>
                <a:ext uri="{FF2B5EF4-FFF2-40B4-BE49-F238E27FC236}">
                  <a16:creationId xmlns:a16="http://schemas.microsoft.com/office/drawing/2014/main" id="{CFB68F1E-D423-A3CE-7FF8-A7057C355879}"/>
                </a:ext>
              </a:extLst>
            </p:cNvPr>
            <p:cNvPicPr/>
            <p:nvPr/>
          </p:nvPicPr>
          <p:blipFill>
            <a:blip r:embed="rId2" cstate="print"/>
            <a:stretch>
              <a:fillRect/>
            </a:stretch>
          </p:blipFill>
          <p:spPr>
            <a:xfrm>
              <a:off x="0" y="7653925"/>
              <a:ext cx="18287998" cy="2633074"/>
            </a:xfrm>
            <a:prstGeom prst="rect">
              <a:avLst/>
            </a:prstGeom>
          </p:spPr>
        </p:pic>
      </p:grpSp>
      <p:sp>
        <p:nvSpPr>
          <p:cNvPr id="6" name="object 6">
            <a:extLst>
              <a:ext uri="{FF2B5EF4-FFF2-40B4-BE49-F238E27FC236}">
                <a16:creationId xmlns:a16="http://schemas.microsoft.com/office/drawing/2014/main" id="{D0A35FB6-C7D9-25EA-7BC6-9A483B72F00A}"/>
              </a:ext>
            </a:extLst>
          </p:cNvPr>
          <p:cNvSpPr txBox="1">
            <a:spLocks noGrp="1"/>
          </p:cNvSpPr>
          <p:nvPr>
            <p:ph type="title"/>
          </p:nvPr>
        </p:nvSpPr>
        <p:spPr>
          <a:xfrm>
            <a:off x="2514600" y="308007"/>
            <a:ext cx="13487399"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Financial Optimization:</a:t>
            </a:r>
            <a:endParaRPr sz="4000" spc="760" dirty="0">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D9909A86-6BD4-755C-3703-01DE90D58FB5}"/>
              </a:ext>
            </a:extLst>
          </p:cNvPr>
          <p:cNvSpPr txBox="1">
            <a:spLocks noGrp="1"/>
          </p:cNvSpPr>
          <p:nvPr>
            <p:ph type="body" idx="1"/>
          </p:nvPr>
        </p:nvSpPr>
        <p:spPr>
          <a:xfrm>
            <a:off x="1295400" y="1333500"/>
            <a:ext cx="15977041" cy="6425798"/>
          </a:xfrm>
          <a:prstGeom prst="rect">
            <a:avLst/>
          </a:prstGeom>
        </p:spPr>
        <p:txBody>
          <a:bodyPr vert="horz" wrap="square" lIns="0" tIns="12065" rIns="0" bIns="0" rtlCol="0">
            <a:spAutoFit/>
          </a:bodyPr>
          <a:lstStyle/>
          <a:p>
            <a:pPr algn="just">
              <a:lnSpc>
                <a:spcPts val="4620"/>
              </a:lnSpc>
            </a:pPr>
            <a:r>
              <a:rPr lang="en-US" sz="2400" spc="-10" dirty="0">
                <a:latin typeface="Times New Roman" panose="02020603050405020304" pitchFamily="18" charset="0"/>
                <a:cs typeface="Times New Roman" panose="02020603050405020304" pitchFamily="18" charset="0"/>
              </a:rPr>
              <a:t>Presented by the Financial Analyst: Naomi Opiyo </a:t>
            </a:r>
          </a:p>
          <a:p>
            <a:pPr algn="just">
              <a:lnSpc>
                <a:spcPts val="4620"/>
              </a:lnSpc>
            </a:pPr>
            <a:r>
              <a:rPr lang="en-US" sz="2400" spc="-10" dirty="0">
                <a:latin typeface="Times New Roman" panose="02020603050405020304" pitchFamily="18" charset="0"/>
                <a:cs typeface="Times New Roman" panose="02020603050405020304" pitchFamily="18" charset="0"/>
              </a:rPr>
              <a:t>Financial success in film often requires more than a compelling story where it demands strategic capital allocation, risk assessment, and return optimization.</a:t>
            </a:r>
          </a:p>
          <a:p>
            <a:pPr algn="just">
              <a:lnSpc>
                <a:spcPts val="4620"/>
              </a:lnSpc>
            </a:pPr>
            <a:r>
              <a:rPr lang="en-US" sz="2400" spc="-10" dirty="0">
                <a:latin typeface="Times New Roman" panose="02020603050405020304" pitchFamily="18" charset="0"/>
                <a:cs typeface="Times New Roman" panose="02020603050405020304" pitchFamily="18" charset="0"/>
              </a:rPr>
              <a:t>This data-driven review evaluates key financial metrics including ROI by budget tier, genre profitability, market saturation, to identify high-efficiency investment opportunities and mitigate exposure in oversaturated segments</a:t>
            </a:r>
          </a:p>
          <a:p>
            <a:pPr algn="just">
              <a:lnSpc>
                <a:spcPts val="4620"/>
              </a:lnSpc>
            </a:pPr>
            <a:r>
              <a:rPr lang="en-US" sz="2400" spc="-10" dirty="0">
                <a:latin typeface="Times New Roman" panose="02020603050405020304" pitchFamily="18" charset="0"/>
                <a:cs typeface="Times New Roman" panose="02020603050405020304" pitchFamily="18" charset="0"/>
              </a:rPr>
              <a:t>My analysis involves answering the following business questions:</a:t>
            </a: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 What is the optimal budget range for maximum return on Investment(ROI)</a:t>
            </a: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Do independent(indie) studios achieve different average ratings compared to major studios, and what can we learn about indie versus blockbuster strategy</a:t>
            </a: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How do different financial levels correlate with average ratings and commercial success?</a:t>
            </a:r>
          </a:p>
          <a:p>
            <a:pPr algn="just">
              <a:lnSpc>
                <a:spcPts val="4620"/>
              </a:lnSpc>
            </a:pPr>
            <a:endParaRPr lang="en-US" sz="2400"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2139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3958605" y="308006"/>
            <a:ext cx="10478496" cy="687398"/>
          </a:xfrm>
          <a:prstGeom prst="rect">
            <a:avLst/>
          </a:prstGeom>
        </p:spPr>
        <p:txBody>
          <a:bodyPr vert="horz" wrap="square" lIns="0" tIns="71150" rIns="0" bIns="0" rtlCol="0">
            <a:spAutoFit/>
          </a:bodyPr>
          <a:lstStyle/>
          <a:p>
            <a:pPr marL="12700">
              <a:lnSpc>
                <a:spcPct val="100000"/>
              </a:lnSpc>
              <a:spcBef>
                <a:spcPts val="100"/>
              </a:spcBef>
            </a:pPr>
            <a:r>
              <a:rPr lang="en-US" sz="4000" dirty="0">
                <a:latin typeface="Times New Roman" panose="02020603050405020304" pitchFamily="18" charset="0"/>
                <a:cs typeface="Times New Roman" panose="02020603050405020304" pitchFamily="18" charset="0"/>
              </a:rPr>
              <a:t>Highest ROI in the lowest budget tier:</a:t>
            </a:r>
            <a:endParaRPr sz="4000" dirty="0">
              <a:latin typeface="Times New Roman" panose="02020603050405020304" pitchFamily="18" charset="0"/>
              <a:cs typeface="Times New Roman" panose="02020603050405020304" pitchFamily="18" charset="0"/>
            </a:endParaRPr>
          </a:p>
        </p:txBody>
      </p:sp>
      <p:sp>
        <p:nvSpPr>
          <p:cNvPr id="11" name="object 11"/>
          <p:cNvSpPr txBox="1"/>
          <p:nvPr/>
        </p:nvSpPr>
        <p:spPr>
          <a:xfrm>
            <a:off x="1752600" y="3846189"/>
            <a:ext cx="6676445" cy="2594621"/>
          </a:xfrm>
          <a:prstGeom prst="rect">
            <a:avLst/>
          </a:prstGeom>
        </p:spPr>
        <p:txBody>
          <a:bodyPr vert="horz" wrap="square" lIns="0" tIns="12065" rIns="0" bIns="0" rtlCol="0">
            <a:spAutoFit/>
          </a:bodyPr>
          <a:lstStyle/>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Films under $5M yield an average ROI of 842.85% far higher than any other budget range.</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Result is significant(p&lt;0.05),meaning its not due to chance.</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Despite high ROI, these films have very high variability(STD Dev~5652.50%) indicating risk.</a:t>
            </a:r>
            <a:endParaRPr sz="24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C591DC64-D752-C776-8791-887D7627158B}"/>
              </a:ext>
            </a:extLst>
          </p:cNvPr>
          <p:cNvPicPr>
            <a:picLocks noChangeAspect="1"/>
          </p:cNvPicPr>
          <p:nvPr/>
        </p:nvPicPr>
        <p:blipFill>
          <a:blip r:embed="rId2"/>
          <a:stretch>
            <a:fillRect/>
          </a:stretch>
        </p:blipFill>
        <p:spPr>
          <a:xfrm>
            <a:off x="8991600" y="2019300"/>
            <a:ext cx="8359864"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C24FD-D20E-360B-FBC0-2A4C8EF6C237}"/>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BC807ED0-12D7-A40D-C5DF-D131742D1F9C}"/>
              </a:ext>
            </a:extLst>
          </p:cNvPr>
          <p:cNvSpPr txBox="1">
            <a:spLocks noGrp="1"/>
          </p:cNvSpPr>
          <p:nvPr>
            <p:ph type="title"/>
          </p:nvPr>
        </p:nvSpPr>
        <p:spPr>
          <a:xfrm>
            <a:off x="1676400" y="308007"/>
            <a:ext cx="12760701" cy="687398"/>
          </a:xfrm>
          <a:prstGeom prst="rect">
            <a:avLst/>
          </a:prstGeom>
        </p:spPr>
        <p:txBody>
          <a:bodyPr vert="horz" wrap="square" lIns="0" tIns="71150" rIns="0" bIns="0" rtlCol="0">
            <a:spAutoFit/>
          </a:bodyPr>
          <a:lstStyle/>
          <a:p>
            <a:pPr marL="12700">
              <a:lnSpc>
                <a:spcPct val="100000"/>
              </a:lnSpc>
              <a:spcBef>
                <a:spcPts val="100"/>
              </a:spcBef>
            </a:pPr>
            <a:r>
              <a:rPr lang="en-US" sz="4000" dirty="0">
                <a:latin typeface="Times New Roman" panose="02020603050405020304" pitchFamily="18" charset="0"/>
                <a:cs typeface="Times New Roman" panose="02020603050405020304" pitchFamily="18" charset="0"/>
              </a:rPr>
              <a:t>Independent(Indie) Vs Major Studios: Quality and Revenue</a:t>
            </a:r>
            <a:endParaRPr sz="4000"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DC3FE8D8-62C3-025F-4E1B-98C897EE5DEE}"/>
              </a:ext>
            </a:extLst>
          </p:cNvPr>
          <p:cNvSpPr txBox="1"/>
          <p:nvPr/>
        </p:nvSpPr>
        <p:spPr>
          <a:xfrm>
            <a:off x="936536" y="2171700"/>
            <a:ext cx="7492509" cy="5657831"/>
          </a:xfrm>
          <a:prstGeom prst="rect">
            <a:avLst/>
          </a:prstGeom>
        </p:spPr>
        <p:txBody>
          <a:bodyPr vert="horz" wrap="square" lIns="0" tIns="12065" rIns="0" bIns="0" rtlCol="0">
            <a:spAutoFit/>
          </a:bodyPr>
          <a:lstStyle/>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The Quality is nearly identical with Independent(indie) studios having an average rating of 6.46 while major studios gross a 6.45 rating(a negligible difference)</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Major studios earn 58% more on average(210.9M vs $133.4M for independents(indie).</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Independent(indie) can match major studios in quality, but major studios excel in monetization through marketing, distribution and scale.</a:t>
            </a:r>
          </a:p>
          <a:p>
            <a:pPr marL="355600" marR="5080" indent="-342900" algn="just">
              <a:lnSpc>
                <a:spcPct val="117200"/>
              </a:lnSpc>
              <a:spcBef>
                <a:spcPts val="95"/>
              </a:spcBef>
              <a:buFont typeface="Wingdings" panose="05000000000000000000" pitchFamily="2" charset="2"/>
              <a:buChar char="v"/>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355600" marR="5080" indent="-342900" algn="just">
              <a:lnSpc>
                <a:spcPct val="117200"/>
              </a:lnSpc>
              <a:spcBef>
                <a:spcPts val="95"/>
              </a:spcBef>
              <a:buFont typeface="Wingdings" panose="05000000000000000000" pitchFamily="2" charset="2"/>
              <a:buChar char="v"/>
            </a:pPr>
            <a:r>
              <a:rPr lang="en-US" sz="2400" b="1" dirty="0">
                <a:solidFill>
                  <a:srgbClr val="FFFFFF"/>
                </a:solidFill>
                <a:latin typeface="Times New Roman" panose="02020603050405020304" pitchFamily="18" charset="0"/>
                <a:cs typeface="Times New Roman" panose="02020603050405020304" pitchFamily="18" charset="0"/>
              </a:rPr>
              <a:t>Conclusion: </a:t>
            </a:r>
            <a:r>
              <a:rPr lang="en-US" sz="2400" dirty="0">
                <a:solidFill>
                  <a:srgbClr val="FFFFFF"/>
                </a:solidFill>
                <a:latin typeface="Times New Roman" panose="02020603050405020304" pitchFamily="18" charset="0"/>
                <a:cs typeface="Times New Roman" panose="02020603050405020304" pitchFamily="18" charset="0"/>
              </a:rPr>
              <a:t>To compete with majors YE Studios would need similar commercial infrastructure not just production quality.</a:t>
            </a:r>
          </a:p>
        </p:txBody>
      </p:sp>
      <p:pic>
        <p:nvPicPr>
          <p:cNvPr id="3" name="Picture 2">
            <a:extLst>
              <a:ext uri="{FF2B5EF4-FFF2-40B4-BE49-F238E27FC236}">
                <a16:creationId xmlns:a16="http://schemas.microsoft.com/office/drawing/2014/main" id="{131A60AF-D648-A01E-CF37-E47A32101044}"/>
              </a:ext>
            </a:extLst>
          </p:cNvPr>
          <p:cNvPicPr>
            <a:picLocks noChangeAspect="1"/>
          </p:cNvPicPr>
          <p:nvPr/>
        </p:nvPicPr>
        <p:blipFill>
          <a:blip r:embed="rId2"/>
          <a:stretch>
            <a:fillRect/>
          </a:stretch>
        </p:blipFill>
        <p:spPr>
          <a:xfrm>
            <a:off x="9596971" y="1250073"/>
            <a:ext cx="7690584" cy="4105379"/>
          </a:xfrm>
          <a:prstGeom prst="rect">
            <a:avLst/>
          </a:prstGeom>
        </p:spPr>
      </p:pic>
      <p:pic>
        <p:nvPicPr>
          <p:cNvPr id="5" name="Picture 4">
            <a:extLst>
              <a:ext uri="{FF2B5EF4-FFF2-40B4-BE49-F238E27FC236}">
                <a16:creationId xmlns:a16="http://schemas.microsoft.com/office/drawing/2014/main" id="{423BAAE5-BD65-B778-0D18-72E2A37C2655}"/>
              </a:ext>
            </a:extLst>
          </p:cNvPr>
          <p:cNvPicPr>
            <a:picLocks noChangeAspect="1"/>
          </p:cNvPicPr>
          <p:nvPr/>
        </p:nvPicPr>
        <p:blipFill>
          <a:blip r:embed="rId3"/>
          <a:stretch>
            <a:fillRect/>
          </a:stretch>
        </p:blipFill>
        <p:spPr>
          <a:xfrm>
            <a:off x="9631384" y="5610121"/>
            <a:ext cx="7830140" cy="4371075"/>
          </a:xfrm>
          <a:prstGeom prst="rect">
            <a:avLst/>
          </a:prstGeom>
        </p:spPr>
      </p:pic>
    </p:spTree>
    <p:extLst>
      <p:ext uri="{BB962C8B-B14F-4D97-AF65-F5344CB8AC3E}">
        <p14:creationId xmlns:p14="http://schemas.microsoft.com/office/powerpoint/2010/main" val="1352081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55294-1475-7499-9656-29C51D9AB252}"/>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39A71EF2-10D8-89D5-A702-3156855A1672}"/>
              </a:ext>
            </a:extLst>
          </p:cNvPr>
          <p:cNvSpPr txBox="1">
            <a:spLocks noGrp="1"/>
          </p:cNvSpPr>
          <p:nvPr>
            <p:ph type="title"/>
          </p:nvPr>
        </p:nvSpPr>
        <p:spPr>
          <a:xfrm>
            <a:off x="1676400" y="308007"/>
            <a:ext cx="12760701" cy="687398"/>
          </a:xfrm>
          <a:prstGeom prst="rect">
            <a:avLst/>
          </a:prstGeom>
        </p:spPr>
        <p:txBody>
          <a:bodyPr vert="horz" wrap="square" lIns="0" tIns="71150" rIns="0" bIns="0" rtlCol="0">
            <a:spAutoFit/>
          </a:bodyPr>
          <a:lstStyle/>
          <a:p>
            <a:pPr marL="12700">
              <a:lnSpc>
                <a:spcPct val="100000"/>
              </a:lnSpc>
              <a:spcBef>
                <a:spcPts val="100"/>
              </a:spcBef>
            </a:pPr>
            <a:r>
              <a:rPr lang="en-US" sz="4000" dirty="0">
                <a:latin typeface="Times New Roman" panose="02020603050405020304" pitchFamily="18" charset="0"/>
                <a:cs typeface="Times New Roman" panose="02020603050405020304" pitchFamily="18" charset="0"/>
              </a:rPr>
              <a:t>Financial Levels, Ratings and Commercial Success</a:t>
            </a:r>
            <a:endParaRPr sz="4000"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030B09DB-EC49-E50E-2EEB-BFE27FB377CD}"/>
              </a:ext>
            </a:extLst>
          </p:cNvPr>
          <p:cNvSpPr txBox="1"/>
          <p:nvPr/>
        </p:nvSpPr>
        <p:spPr>
          <a:xfrm>
            <a:off x="936536" y="2171700"/>
            <a:ext cx="7492509" cy="6522042"/>
          </a:xfrm>
          <a:prstGeom prst="rect">
            <a:avLst/>
          </a:prstGeom>
        </p:spPr>
        <p:txBody>
          <a:bodyPr vert="horz" wrap="square" lIns="0" tIns="12065" rIns="0" bIns="0" rtlCol="0">
            <a:spAutoFit/>
          </a:bodyPr>
          <a:lstStyle/>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Budget strongly predicts revenue(r=0.793), but weakly predicts quality(r=0.174).</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Higher budgets often translate to slightly higher ratings(up to 6,95 for blockbusters), but lower ROI: highlighted through production budgets vs ROI where a low budget(&lt;$15M) returns a 389.96% whereas a Blockbuster(&gt;$150M) returns an ROI  at 247.32%.</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Rating poorly predicts revenue(r=0.223) demonstrating that success depends more on marketing, distribution, and scale.</a:t>
            </a:r>
          </a:p>
          <a:p>
            <a:pPr marL="355600" marR="5080" indent="-342900" algn="just">
              <a:lnSpc>
                <a:spcPct val="117200"/>
              </a:lnSpc>
              <a:spcBef>
                <a:spcPts val="95"/>
              </a:spcBef>
              <a:buFont typeface="Wingdings" panose="05000000000000000000" pitchFamily="2" charset="2"/>
              <a:buChar char="v"/>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355600" marR="5080" indent="-342900" algn="just">
              <a:lnSpc>
                <a:spcPct val="117200"/>
              </a:lnSpc>
              <a:spcBef>
                <a:spcPts val="95"/>
              </a:spcBef>
              <a:buFont typeface="Wingdings" panose="05000000000000000000" pitchFamily="2" charset="2"/>
              <a:buChar char="v"/>
            </a:pPr>
            <a:r>
              <a:rPr lang="en-US" sz="2400" b="1" dirty="0">
                <a:solidFill>
                  <a:srgbClr val="FFFFFF"/>
                </a:solidFill>
                <a:latin typeface="Times New Roman" panose="02020603050405020304" pitchFamily="18" charset="0"/>
                <a:cs typeface="Times New Roman" panose="02020603050405020304" pitchFamily="18" charset="0"/>
              </a:rPr>
              <a:t>Conclusion:  </a:t>
            </a:r>
            <a:r>
              <a:rPr lang="en-US" sz="2400" dirty="0">
                <a:solidFill>
                  <a:srgbClr val="FFFFFF"/>
                </a:solidFill>
                <a:latin typeface="Times New Roman" panose="02020603050405020304" pitchFamily="18" charset="0"/>
                <a:cs typeface="Times New Roman" panose="02020603050405020304" pitchFamily="18" charset="0"/>
              </a:rPr>
              <a:t>Lean towards low budget films for higher  ROI, or blockbuster for maximum revenue and prestige but not both.</a:t>
            </a:r>
          </a:p>
        </p:txBody>
      </p:sp>
      <p:pic>
        <p:nvPicPr>
          <p:cNvPr id="4" name="Picture 3">
            <a:extLst>
              <a:ext uri="{FF2B5EF4-FFF2-40B4-BE49-F238E27FC236}">
                <a16:creationId xmlns:a16="http://schemas.microsoft.com/office/drawing/2014/main" id="{9C508BD8-7A0F-6A7F-4CD8-4CDAB9BED308}"/>
              </a:ext>
            </a:extLst>
          </p:cNvPr>
          <p:cNvPicPr>
            <a:picLocks noChangeAspect="1"/>
          </p:cNvPicPr>
          <p:nvPr/>
        </p:nvPicPr>
        <p:blipFill>
          <a:blip r:embed="rId2"/>
          <a:stretch>
            <a:fillRect/>
          </a:stretch>
        </p:blipFill>
        <p:spPr>
          <a:xfrm>
            <a:off x="9307218" y="1257300"/>
            <a:ext cx="8613505" cy="4139779"/>
          </a:xfrm>
          <a:prstGeom prst="rect">
            <a:avLst/>
          </a:prstGeom>
        </p:spPr>
      </p:pic>
      <p:pic>
        <p:nvPicPr>
          <p:cNvPr id="8" name="Picture 7">
            <a:extLst>
              <a:ext uri="{FF2B5EF4-FFF2-40B4-BE49-F238E27FC236}">
                <a16:creationId xmlns:a16="http://schemas.microsoft.com/office/drawing/2014/main" id="{010AD621-699E-450D-1C3F-C6AF19CFAC6D}"/>
              </a:ext>
            </a:extLst>
          </p:cNvPr>
          <p:cNvPicPr>
            <a:picLocks noChangeAspect="1"/>
          </p:cNvPicPr>
          <p:nvPr/>
        </p:nvPicPr>
        <p:blipFill>
          <a:blip r:embed="rId3"/>
          <a:stretch>
            <a:fillRect/>
          </a:stretch>
        </p:blipFill>
        <p:spPr>
          <a:xfrm>
            <a:off x="9349139" y="5610120"/>
            <a:ext cx="8613505" cy="3985605"/>
          </a:xfrm>
          <a:prstGeom prst="rect">
            <a:avLst/>
          </a:prstGeom>
        </p:spPr>
      </p:pic>
    </p:spTree>
    <p:extLst>
      <p:ext uri="{BB962C8B-B14F-4D97-AF65-F5344CB8AC3E}">
        <p14:creationId xmlns:p14="http://schemas.microsoft.com/office/powerpoint/2010/main" val="2104919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46199-B1AA-5B52-F342-36AC9092849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E78449D-BD92-8D10-5825-D509100CB4EE}"/>
              </a:ext>
            </a:extLst>
          </p:cNvPr>
          <p:cNvGrpSpPr/>
          <p:nvPr/>
        </p:nvGrpSpPr>
        <p:grpSpPr>
          <a:xfrm>
            <a:off x="0" y="0"/>
            <a:ext cx="18288000" cy="10287000"/>
            <a:chOff x="0" y="0"/>
            <a:chExt cx="18288000" cy="10287000"/>
          </a:xfrm>
        </p:grpSpPr>
        <p:sp>
          <p:nvSpPr>
            <p:cNvPr id="3" name="object 3">
              <a:extLst>
                <a:ext uri="{FF2B5EF4-FFF2-40B4-BE49-F238E27FC236}">
                  <a16:creationId xmlns:a16="http://schemas.microsoft.com/office/drawing/2014/main" id="{3B0B9448-814E-B64E-EC43-D10CC4F3E59A}"/>
                </a:ext>
              </a:extLst>
            </p:cNvPr>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74CFD485-C7E6-E524-391F-36BCE0CC1E64}"/>
                </a:ext>
              </a:extLst>
            </p:cNvPr>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a:extLst>
                <a:ext uri="{FF2B5EF4-FFF2-40B4-BE49-F238E27FC236}">
                  <a16:creationId xmlns:a16="http://schemas.microsoft.com/office/drawing/2014/main" id="{551B2821-BF0B-2350-6B93-B7EEC2932CAF}"/>
                </a:ext>
              </a:extLst>
            </p:cNvPr>
            <p:cNvPicPr/>
            <p:nvPr/>
          </p:nvPicPr>
          <p:blipFill>
            <a:blip r:embed="rId2" cstate="print"/>
            <a:stretch>
              <a:fillRect/>
            </a:stretch>
          </p:blipFill>
          <p:spPr>
            <a:xfrm>
              <a:off x="0" y="7653925"/>
              <a:ext cx="18287998" cy="2633074"/>
            </a:xfrm>
            <a:prstGeom prst="rect">
              <a:avLst/>
            </a:prstGeom>
          </p:spPr>
        </p:pic>
      </p:grpSp>
      <p:sp>
        <p:nvSpPr>
          <p:cNvPr id="6" name="object 6">
            <a:extLst>
              <a:ext uri="{FF2B5EF4-FFF2-40B4-BE49-F238E27FC236}">
                <a16:creationId xmlns:a16="http://schemas.microsoft.com/office/drawing/2014/main" id="{038731FE-DB65-5B68-1827-AC9D2BE66C67}"/>
              </a:ext>
            </a:extLst>
          </p:cNvPr>
          <p:cNvSpPr txBox="1">
            <a:spLocks noGrp="1"/>
          </p:cNvSpPr>
          <p:nvPr>
            <p:ph type="title"/>
          </p:nvPr>
        </p:nvSpPr>
        <p:spPr>
          <a:xfrm>
            <a:off x="2514600" y="308007"/>
            <a:ext cx="13487399"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Genre and Content Strategy:</a:t>
            </a:r>
            <a:endParaRPr sz="4000" spc="760" dirty="0">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D151F161-716A-4828-710F-1D92D3A6F667}"/>
              </a:ext>
            </a:extLst>
          </p:cNvPr>
          <p:cNvSpPr txBox="1">
            <a:spLocks noGrp="1"/>
          </p:cNvSpPr>
          <p:nvPr>
            <p:ph type="body" idx="1"/>
          </p:nvPr>
        </p:nvSpPr>
        <p:spPr>
          <a:xfrm>
            <a:off x="1295400" y="1333500"/>
            <a:ext cx="15977041" cy="6425798"/>
          </a:xfrm>
          <a:prstGeom prst="rect">
            <a:avLst/>
          </a:prstGeom>
        </p:spPr>
        <p:txBody>
          <a:bodyPr vert="horz" wrap="square" lIns="0" tIns="12065" rIns="0" bIns="0" rtlCol="0">
            <a:spAutoFit/>
          </a:bodyPr>
          <a:lstStyle/>
          <a:p>
            <a:pPr algn="just">
              <a:lnSpc>
                <a:spcPts val="4620"/>
              </a:lnSpc>
            </a:pPr>
            <a:r>
              <a:rPr lang="en-US" sz="2400" spc="-10" dirty="0">
                <a:latin typeface="Times New Roman" panose="02020603050405020304" pitchFamily="18" charset="0"/>
                <a:cs typeface="Times New Roman" panose="02020603050405020304" pitchFamily="18" charset="0"/>
              </a:rPr>
              <a:t>Presented by the Genre and Content Strategist: Daniella Muli.</a:t>
            </a:r>
          </a:p>
          <a:p>
            <a:pPr algn="just">
              <a:lnSpc>
                <a:spcPts val="4620"/>
              </a:lnSpc>
            </a:pPr>
            <a:r>
              <a:rPr lang="en-US" sz="2400" spc="-10" dirty="0">
                <a:latin typeface="Times New Roman" panose="02020603050405020304" pitchFamily="18" charset="0"/>
                <a:cs typeface="Times New Roman" panose="02020603050405020304" pitchFamily="18" charset="0"/>
              </a:rPr>
              <a:t> </a:t>
            </a:r>
          </a:p>
          <a:p>
            <a:pPr algn="just">
              <a:lnSpc>
                <a:spcPts val="4620"/>
              </a:lnSpc>
            </a:pPr>
            <a:r>
              <a:rPr lang="en-US" sz="2400" spc="-10" dirty="0">
                <a:latin typeface="Times New Roman" panose="02020603050405020304" pitchFamily="18" charset="0"/>
                <a:cs typeface="Times New Roman" panose="02020603050405020304" pitchFamily="18" charset="0"/>
              </a:rPr>
              <a:t>In the ever-evolving landscape of global cinema, understanding which stories resonate and where, is paramount to building a lasting content strategy. My analysis examines genre performance across revenue, audience appeal, and international markets to identify not only what works, but where opportunities for innovation and market leadership remain untapped.</a:t>
            </a:r>
          </a:p>
          <a:p>
            <a:pPr algn="just">
              <a:lnSpc>
                <a:spcPts val="4620"/>
              </a:lnSpc>
            </a:pPr>
            <a:endParaRPr lang="en-US" sz="2400" spc="-10" dirty="0">
              <a:latin typeface="Times New Roman" panose="02020603050405020304" pitchFamily="18" charset="0"/>
              <a:cs typeface="Times New Roman" panose="02020603050405020304" pitchFamily="18" charset="0"/>
            </a:endParaRPr>
          </a:p>
          <a:p>
            <a:pPr algn="just">
              <a:lnSpc>
                <a:spcPts val="4620"/>
              </a:lnSpc>
            </a:pPr>
            <a:r>
              <a:rPr lang="en-US" sz="2400" spc="-10" dirty="0">
                <a:latin typeface="Times New Roman" panose="02020603050405020304" pitchFamily="18" charset="0"/>
                <a:cs typeface="Times New Roman" panose="02020603050405020304" pitchFamily="18" charset="0"/>
              </a:rPr>
              <a:t>I answer that by looking at the following business questions:</a:t>
            </a: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Which genres or specific genre combinations consistently delivered the highest global revenue, and where can we identify underserved niches with lower competition but clear audience demand.</a:t>
            </a: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 Do certain genres demonstrate better international appeal, enabling us to maximize global revenue potential?</a:t>
            </a:r>
          </a:p>
          <a:p>
            <a:pPr algn="just">
              <a:lnSpc>
                <a:spcPts val="4620"/>
              </a:lnSpc>
            </a:pPr>
            <a:endParaRPr lang="en-US" sz="2400"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8244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7998" cy="10286999"/>
            <a:chOff x="0" y="0"/>
            <a:chExt cx="18287998" cy="10286999"/>
          </a:xfrm>
        </p:grpSpPr>
        <p:sp>
          <p:nvSpPr>
            <p:cNvPr id="3" name="object 3"/>
            <p:cNvSpPr/>
            <p:nvPr/>
          </p:nvSpPr>
          <p:spPr>
            <a:xfrm>
              <a:off x="646402"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p:cNvPicPr/>
            <p:nvPr/>
          </p:nvPicPr>
          <p:blipFill>
            <a:blip r:embed="rId2" cstate="print"/>
            <a:stretch>
              <a:fillRect/>
            </a:stretch>
          </p:blipFill>
          <p:spPr>
            <a:xfrm>
              <a:off x="0" y="7653925"/>
              <a:ext cx="18287998" cy="2633074"/>
            </a:xfrm>
            <a:prstGeom prst="rect">
              <a:avLst/>
            </a:prstGeom>
          </p:spPr>
        </p:pic>
      </p:grpSp>
      <p:sp>
        <p:nvSpPr>
          <p:cNvPr id="7" name="object 7"/>
          <p:cNvSpPr txBox="1">
            <a:spLocks noGrp="1"/>
          </p:cNvSpPr>
          <p:nvPr>
            <p:ph type="title"/>
          </p:nvPr>
        </p:nvSpPr>
        <p:spPr>
          <a:xfrm>
            <a:off x="1219200" y="308007"/>
            <a:ext cx="15316199" cy="625844"/>
          </a:xfrm>
          <a:prstGeom prst="rect">
            <a:avLst/>
          </a:prstGeom>
        </p:spPr>
        <p:txBody>
          <a:bodyPr vert="horz" wrap="square" lIns="0" tIns="71151" rIns="0" bIns="0" rtlCol="0">
            <a:spAutoFit/>
          </a:bodyPr>
          <a:lstStyle/>
          <a:p>
            <a:pPr marL="2122170">
              <a:lnSpc>
                <a:spcPct val="100000"/>
              </a:lnSpc>
              <a:spcBef>
                <a:spcPts val="100"/>
              </a:spcBef>
            </a:pPr>
            <a:r>
              <a:rPr lang="en-US" sz="3600" spc="305" dirty="0">
                <a:latin typeface="Times New Roman" panose="02020603050405020304" pitchFamily="18" charset="0"/>
                <a:cs typeface="Times New Roman" panose="02020603050405020304" pitchFamily="18" charset="0"/>
              </a:rPr>
              <a:t>Top Genres for Global Revenue and International Appeal:</a:t>
            </a:r>
            <a:endParaRPr sz="3600" dirty="0">
              <a:latin typeface="Times New Roman" panose="02020603050405020304" pitchFamily="18" charset="0"/>
              <a:cs typeface="Times New Roman" panose="02020603050405020304" pitchFamily="18" charset="0"/>
            </a:endParaRPr>
          </a:p>
        </p:txBody>
      </p:sp>
      <p:sp>
        <p:nvSpPr>
          <p:cNvPr id="11" name="object 11"/>
          <p:cNvSpPr txBox="1"/>
          <p:nvPr/>
        </p:nvSpPr>
        <p:spPr>
          <a:xfrm>
            <a:off x="10139965" y="1564875"/>
            <a:ext cx="7112208" cy="6954148"/>
          </a:xfrm>
          <a:prstGeom prst="rect">
            <a:avLst/>
          </a:prstGeom>
        </p:spPr>
        <p:txBody>
          <a:bodyPr vert="horz" wrap="square" lIns="0" tIns="12065" rIns="0" bIns="0" rtlCol="0">
            <a:spAutoFit/>
          </a:bodyPr>
          <a:lstStyle/>
          <a:p>
            <a:pPr marL="12700" marR="5080" algn="just">
              <a:lnSpc>
                <a:spcPct val="117200"/>
              </a:lnSpc>
              <a:spcBef>
                <a:spcPts val="95"/>
              </a:spcBef>
            </a:pPr>
            <a:r>
              <a:rPr lang="en-US" sz="2400" dirty="0">
                <a:solidFill>
                  <a:srgbClr val="FFFFFF"/>
                </a:solidFill>
                <a:latin typeface="Times New Roman" panose="02020603050405020304" pitchFamily="18" charset="0"/>
                <a:cs typeface="Times New Roman" panose="02020603050405020304" pitchFamily="18" charset="0"/>
              </a:rPr>
              <a:t>Fig 1:</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 Animation and Adventure genres are the strongest performers, exceeding $150-200M median gross, whilst Sc-Fi, Action and Fantasy are reliable as they produce mid-t-high revenue gross.</a:t>
            </a: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r>
              <a:rPr lang="en-US" sz="2400" dirty="0">
                <a:solidFill>
                  <a:srgbClr val="FFFFFF"/>
                </a:solidFill>
                <a:latin typeface="Times New Roman" panose="02020603050405020304" pitchFamily="18" charset="0"/>
                <a:cs typeface="Times New Roman" panose="02020603050405020304" pitchFamily="18" charset="0"/>
              </a:rPr>
              <a:t>Fig 2:</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Genres with the best International Appeal re Animation, Adventure, Action, Sci-Fi and Fantasy generating a 55-60% foreign share. Hence, highlighting that visual storytelling and universal themes travel well globally and would be ideal for global scaling.</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Domestically, Comedy, Documentary and Drama have a higher share and would be better suited for domestic campaigns.</a:t>
            </a:r>
          </a:p>
        </p:txBody>
      </p:sp>
      <p:pic>
        <p:nvPicPr>
          <p:cNvPr id="13" name="Picture 12">
            <a:extLst>
              <a:ext uri="{FF2B5EF4-FFF2-40B4-BE49-F238E27FC236}">
                <a16:creationId xmlns:a16="http://schemas.microsoft.com/office/drawing/2014/main" id="{6B47315C-AD52-1866-48D0-910C20810770}"/>
              </a:ext>
            </a:extLst>
          </p:cNvPr>
          <p:cNvPicPr>
            <a:picLocks noChangeAspect="1"/>
          </p:cNvPicPr>
          <p:nvPr/>
        </p:nvPicPr>
        <p:blipFill>
          <a:blip r:embed="rId3"/>
          <a:stretch>
            <a:fillRect/>
          </a:stretch>
        </p:blipFill>
        <p:spPr>
          <a:xfrm>
            <a:off x="1325225" y="1210210"/>
            <a:ext cx="7552074" cy="3943702"/>
          </a:xfrm>
          <a:prstGeom prst="rect">
            <a:avLst/>
          </a:prstGeom>
        </p:spPr>
      </p:pic>
      <p:pic>
        <p:nvPicPr>
          <p:cNvPr id="15" name="Picture 14">
            <a:extLst>
              <a:ext uri="{FF2B5EF4-FFF2-40B4-BE49-F238E27FC236}">
                <a16:creationId xmlns:a16="http://schemas.microsoft.com/office/drawing/2014/main" id="{EDAE43A5-362D-E4BB-73D4-4E5D734897EB}"/>
              </a:ext>
            </a:extLst>
          </p:cNvPr>
          <p:cNvPicPr>
            <a:picLocks noChangeAspect="1"/>
          </p:cNvPicPr>
          <p:nvPr/>
        </p:nvPicPr>
        <p:blipFill>
          <a:blip r:embed="rId4"/>
          <a:stretch>
            <a:fillRect/>
          </a:stretch>
        </p:blipFill>
        <p:spPr>
          <a:xfrm>
            <a:off x="1233259" y="5456081"/>
            <a:ext cx="7552074" cy="37036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F605A-2343-F4F0-0E48-02855ABE2CFE}"/>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D039B872-7C6A-4905-450A-551FFCA6D539}"/>
              </a:ext>
            </a:extLst>
          </p:cNvPr>
          <p:cNvSpPr txBox="1">
            <a:spLocks noGrp="1"/>
          </p:cNvSpPr>
          <p:nvPr>
            <p:ph type="title"/>
          </p:nvPr>
        </p:nvSpPr>
        <p:spPr>
          <a:xfrm>
            <a:off x="1676400" y="308007"/>
            <a:ext cx="12760701" cy="687398"/>
          </a:xfrm>
          <a:prstGeom prst="rect">
            <a:avLst/>
          </a:prstGeom>
        </p:spPr>
        <p:txBody>
          <a:bodyPr vert="horz" wrap="square" lIns="0" tIns="71150" rIns="0" bIns="0" rtlCol="0">
            <a:spAutoFit/>
          </a:bodyPr>
          <a:lstStyle/>
          <a:p>
            <a:pPr marL="12700">
              <a:lnSpc>
                <a:spcPct val="100000"/>
              </a:lnSpc>
              <a:spcBef>
                <a:spcPts val="100"/>
              </a:spcBef>
            </a:pPr>
            <a:r>
              <a:rPr lang="en-US" sz="4000" dirty="0">
                <a:latin typeface="Times New Roman" panose="02020603050405020304" pitchFamily="18" charset="0"/>
                <a:cs typeface="Times New Roman" panose="02020603050405020304" pitchFamily="18" charset="0"/>
              </a:rPr>
              <a:t>Top genres for Global and International Appeal: Cont.</a:t>
            </a:r>
            <a:endParaRPr sz="4000"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F4D90392-CF0A-8D68-5BAE-09BD9436B3FB}"/>
              </a:ext>
            </a:extLst>
          </p:cNvPr>
          <p:cNvSpPr txBox="1"/>
          <p:nvPr/>
        </p:nvSpPr>
        <p:spPr>
          <a:xfrm>
            <a:off x="1295400" y="3839777"/>
            <a:ext cx="8588464" cy="2607445"/>
          </a:xfrm>
          <a:prstGeom prst="rect">
            <a:avLst/>
          </a:prstGeom>
        </p:spPr>
        <p:txBody>
          <a:bodyPr vert="horz" wrap="square" lIns="0" tIns="12065" rIns="0" bIns="0" rtlCol="0">
            <a:spAutoFit/>
          </a:bodyPr>
          <a:lstStyle/>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The correlation gives us a quick, at-a-glance comparison off the key metrics.</a:t>
            </a:r>
          </a:p>
          <a:p>
            <a:pPr marL="355600" marR="5080" indent="-342900" algn="just">
              <a:lnSpc>
                <a:spcPct val="117200"/>
              </a:lnSpc>
              <a:spcBef>
                <a:spcPts val="95"/>
              </a:spcBef>
              <a:buFont typeface="Wingdings" panose="05000000000000000000" pitchFamily="2" charset="2"/>
              <a:buChar char="v"/>
            </a:pPr>
            <a:endParaRPr lang="en-US" sz="2400" dirty="0">
              <a:solidFill>
                <a:srgbClr val="FFFFFF"/>
              </a:solidFill>
              <a:latin typeface="Times New Roman" panose="02020603050405020304" pitchFamily="18" charset="0"/>
              <a:cs typeface="Times New Roman" panose="02020603050405020304" pitchFamily="18" charset="0"/>
            </a:endParaRP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It further highlights that Popularity and Budget have the strongest ties to revenue.</a:t>
            </a: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F9A9F50-4C99-9CA7-A957-A3F59C94DEA9}"/>
              </a:ext>
            </a:extLst>
          </p:cNvPr>
          <p:cNvPicPr>
            <a:picLocks noChangeAspect="1"/>
          </p:cNvPicPr>
          <p:nvPr/>
        </p:nvPicPr>
        <p:blipFill>
          <a:blip r:embed="rId2"/>
          <a:stretch>
            <a:fillRect/>
          </a:stretch>
        </p:blipFill>
        <p:spPr>
          <a:xfrm>
            <a:off x="10668000" y="1866900"/>
            <a:ext cx="6859279" cy="6095999"/>
          </a:xfrm>
          <a:prstGeom prst="rect">
            <a:avLst/>
          </a:prstGeom>
        </p:spPr>
      </p:pic>
    </p:spTree>
    <p:extLst>
      <p:ext uri="{BB962C8B-B14F-4D97-AF65-F5344CB8AC3E}">
        <p14:creationId xmlns:p14="http://schemas.microsoft.com/office/powerpoint/2010/main" val="4128266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6DB91-2F17-BC9E-5E33-9F6F311B7697}"/>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C37D60E2-2C48-B5D9-0605-54CDCC8FDFC1}"/>
              </a:ext>
            </a:extLst>
          </p:cNvPr>
          <p:cNvSpPr txBox="1">
            <a:spLocks noGrp="1"/>
          </p:cNvSpPr>
          <p:nvPr>
            <p:ph type="title"/>
          </p:nvPr>
        </p:nvSpPr>
        <p:spPr>
          <a:xfrm>
            <a:off x="1676400" y="308007"/>
            <a:ext cx="12760701" cy="687398"/>
          </a:xfrm>
          <a:prstGeom prst="rect">
            <a:avLst/>
          </a:prstGeom>
        </p:spPr>
        <p:txBody>
          <a:bodyPr vert="horz" wrap="square" lIns="0" tIns="71150" rIns="0" bIns="0" rtlCol="0">
            <a:spAutoFit/>
          </a:bodyPr>
          <a:lstStyle/>
          <a:p>
            <a:pPr marL="12700">
              <a:lnSpc>
                <a:spcPct val="100000"/>
              </a:lnSpc>
              <a:spcBef>
                <a:spcPts val="100"/>
              </a:spcBef>
            </a:pPr>
            <a:r>
              <a:rPr lang="en-US" sz="4000" dirty="0">
                <a:latin typeface="Times New Roman" panose="02020603050405020304" pitchFamily="18" charset="0"/>
                <a:cs typeface="Times New Roman" panose="02020603050405020304" pitchFamily="18" charset="0"/>
              </a:rPr>
              <a:t>Identifying Underserved High-ROI niches.</a:t>
            </a:r>
            <a:endParaRPr sz="4000"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C702F018-B19D-E574-4CEA-337765CD4A01}"/>
              </a:ext>
            </a:extLst>
          </p:cNvPr>
          <p:cNvSpPr txBox="1"/>
          <p:nvPr/>
        </p:nvSpPr>
        <p:spPr>
          <a:xfrm>
            <a:off x="936536" y="2171701"/>
            <a:ext cx="8588464" cy="5212902"/>
          </a:xfrm>
          <a:prstGeom prst="rect">
            <a:avLst/>
          </a:prstGeom>
        </p:spPr>
        <p:txBody>
          <a:bodyPr vert="horz" wrap="square" lIns="0" tIns="12065" rIns="0" bIns="0" rtlCol="0">
            <a:spAutoFit/>
          </a:bodyPr>
          <a:lstStyle/>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Mystery, Horror, Sci-Fi genres have a high median ROI with lower production volume giving an opportunity for efficient capital deployment with less market saturation</a:t>
            </a: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Market saturation factor is further highlighted by high-competition, lower ROI genres like drama and comedy where there are many releases but lower ROI </a:t>
            </a: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On the other hand, the Animation genre demonstrates a high revenue but high-risk pattern because although the revenue is high the ROI is not significantly higher due to their large budgets needed for production.</a:t>
            </a:r>
          </a:p>
        </p:txBody>
      </p:sp>
      <p:pic>
        <p:nvPicPr>
          <p:cNvPr id="4" name="Picture 3">
            <a:extLst>
              <a:ext uri="{FF2B5EF4-FFF2-40B4-BE49-F238E27FC236}">
                <a16:creationId xmlns:a16="http://schemas.microsoft.com/office/drawing/2014/main" id="{08A5846C-5D43-0C11-75F6-95AA96564EEA}"/>
              </a:ext>
            </a:extLst>
          </p:cNvPr>
          <p:cNvPicPr>
            <a:picLocks noChangeAspect="1"/>
          </p:cNvPicPr>
          <p:nvPr/>
        </p:nvPicPr>
        <p:blipFill>
          <a:blip r:embed="rId2"/>
          <a:stretch>
            <a:fillRect/>
          </a:stretch>
        </p:blipFill>
        <p:spPr>
          <a:xfrm>
            <a:off x="10058400" y="1714500"/>
            <a:ext cx="7772400" cy="6477000"/>
          </a:xfrm>
          <a:prstGeom prst="rect">
            <a:avLst/>
          </a:prstGeom>
        </p:spPr>
      </p:pic>
    </p:spTree>
    <p:extLst>
      <p:ext uri="{BB962C8B-B14F-4D97-AF65-F5344CB8AC3E}">
        <p14:creationId xmlns:p14="http://schemas.microsoft.com/office/powerpoint/2010/main" val="114649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E9213-4D9A-D6E1-5C9B-4375121D6775}"/>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2A52C9E-BF78-0EBD-EDC8-4653CD0292F7}"/>
              </a:ext>
            </a:extLst>
          </p:cNvPr>
          <p:cNvGrpSpPr/>
          <p:nvPr/>
        </p:nvGrpSpPr>
        <p:grpSpPr>
          <a:xfrm>
            <a:off x="0" y="0"/>
            <a:ext cx="18288000" cy="10287000"/>
            <a:chOff x="0" y="0"/>
            <a:chExt cx="18288000" cy="10287000"/>
          </a:xfrm>
        </p:grpSpPr>
        <p:sp>
          <p:nvSpPr>
            <p:cNvPr id="3" name="object 3">
              <a:extLst>
                <a:ext uri="{FF2B5EF4-FFF2-40B4-BE49-F238E27FC236}">
                  <a16:creationId xmlns:a16="http://schemas.microsoft.com/office/drawing/2014/main" id="{0276F03A-7CA4-5269-8887-5B22337FFE74}"/>
                </a:ext>
              </a:extLst>
            </p:cNvPr>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52BEB007-F8B9-D967-58C1-DC1C5F62A667}"/>
                </a:ext>
              </a:extLst>
            </p:cNvPr>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a:extLst>
                <a:ext uri="{FF2B5EF4-FFF2-40B4-BE49-F238E27FC236}">
                  <a16:creationId xmlns:a16="http://schemas.microsoft.com/office/drawing/2014/main" id="{DBD5D538-352D-05BD-7095-D1E0E01DBECC}"/>
                </a:ext>
              </a:extLst>
            </p:cNvPr>
            <p:cNvPicPr/>
            <p:nvPr/>
          </p:nvPicPr>
          <p:blipFill>
            <a:blip r:embed="rId2" cstate="print"/>
            <a:stretch>
              <a:fillRect/>
            </a:stretch>
          </p:blipFill>
          <p:spPr>
            <a:xfrm>
              <a:off x="0" y="7653925"/>
              <a:ext cx="18287998" cy="2633074"/>
            </a:xfrm>
            <a:prstGeom prst="rect">
              <a:avLst/>
            </a:prstGeom>
          </p:spPr>
        </p:pic>
      </p:grpSp>
      <p:sp>
        <p:nvSpPr>
          <p:cNvPr id="6" name="object 6">
            <a:extLst>
              <a:ext uri="{FF2B5EF4-FFF2-40B4-BE49-F238E27FC236}">
                <a16:creationId xmlns:a16="http://schemas.microsoft.com/office/drawing/2014/main" id="{C496B607-62B1-8265-6E52-ADE7F192DE23}"/>
              </a:ext>
            </a:extLst>
          </p:cNvPr>
          <p:cNvSpPr txBox="1">
            <a:spLocks noGrp="1"/>
          </p:cNvSpPr>
          <p:nvPr>
            <p:ph type="title"/>
          </p:nvPr>
        </p:nvSpPr>
        <p:spPr>
          <a:xfrm>
            <a:off x="1600200" y="308007"/>
            <a:ext cx="14401799"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Competitive Positioning Analysis:</a:t>
            </a:r>
            <a:endParaRPr sz="4000" spc="760" dirty="0">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6EA392A8-945F-149F-6004-590B56A5E4BD}"/>
              </a:ext>
            </a:extLst>
          </p:cNvPr>
          <p:cNvSpPr txBox="1">
            <a:spLocks noGrp="1"/>
          </p:cNvSpPr>
          <p:nvPr>
            <p:ph type="body" idx="1"/>
          </p:nvPr>
        </p:nvSpPr>
        <p:spPr>
          <a:xfrm>
            <a:off x="1295400" y="1333500"/>
            <a:ext cx="15977041" cy="5245988"/>
          </a:xfrm>
          <a:prstGeom prst="rect">
            <a:avLst/>
          </a:prstGeom>
        </p:spPr>
        <p:txBody>
          <a:bodyPr vert="horz" wrap="square" lIns="0" tIns="12065" rIns="0" bIns="0" rtlCol="0">
            <a:spAutoFit/>
          </a:bodyPr>
          <a:lstStyle/>
          <a:p>
            <a:pPr algn="just">
              <a:lnSpc>
                <a:spcPts val="4620"/>
              </a:lnSpc>
            </a:pPr>
            <a:r>
              <a:rPr lang="en-US" sz="2400" spc="-10" dirty="0">
                <a:latin typeface="Times New Roman" panose="02020603050405020304" pitchFamily="18" charset="0"/>
                <a:cs typeface="Times New Roman" panose="02020603050405020304" pitchFamily="18" charset="0"/>
              </a:rPr>
              <a:t>Presented by the Competitive Positioning Strategist: Pheonverah Achieng’ :</a:t>
            </a:r>
          </a:p>
          <a:p>
            <a:pPr algn="just">
              <a:lnSpc>
                <a:spcPts val="4620"/>
              </a:lnSpc>
            </a:pPr>
            <a:endParaRPr lang="en-US" sz="2400" spc="-10" dirty="0">
              <a:latin typeface="Times New Roman" panose="02020603050405020304" pitchFamily="18" charset="0"/>
              <a:cs typeface="Times New Roman" panose="02020603050405020304" pitchFamily="18" charset="0"/>
            </a:endParaRPr>
          </a:p>
          <a:p>
            <a:pPr algn="just">
              <a:lnSpc>
                <a:spcPts val="4620"/>
              </a:lnSpc>
            </a:pPr>
            <a:r>
              <a:rPr lang="en-US" sz="2400" spc="-10" dirty="0">
                <a:latin typeface="Times New Roman" panose="02020603050405020304" pitchFamily="18" charset="0"/>
                <a:cs typeface="Times New Roman" panose="02020603050405020304" pitchFamily="18" charset="0"/>
              </a:rPr>
              <a:t>In today’s globalized film market, understanding how different regions and seasons influence box office performances essential to building and maintaining a competitive edge. My analysis examines two critical dimensions:</a:t>
            </a:r>
          </a:p>
          <a:p>
            <a:pPr algn="just">
              <a:lnSpc>
                <a:spcPts val="4620"/>
              </a:lnSpc>
            </a:pPr>
            <a:endParaRPr lang="en-US" sz="2400" spc="-10" dirty="0">
              <a:latin typeface="Times New Roman" panose="02020603050405020304" pitchFamily="18" charset="0"/>
              <a:cs typeface="Times New Roman" panose="02020603050405020304" pitchFamily="18" charset="0"/>
            </a:endParaRP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 How do domestic versus foreign markets respond differently to various genres, and should we develop region-specific content strategies?</a:t>
            </a: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What seasonal or temporal patterns exist in box office performance across different genres?</a:t>
            </a:r>
          </a:p>
          <a:p>
            <a:pPr algn="just">
              <a:lnSpc>
                <a:spcPts val="4620"/>
              </a:lnSpc>
            </a:pPr>
            <a:endParaRPr lang="en-US" sz="2400"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75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5E458-A3EB-718B-D899-73B17FA5A374}"/>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A0721857-AE39-D6D8-B3E5-6343D844B42F}"/>
              </a:ext>
            </a:extLst>
          </p:cNvPr>
          <p:cNvSpPr txBox="1">
            <a:spLocks noGrp="1"/>
          </p:cNvSpPr>
          <p:nvPr>
            <p:ph type="title"/>
          </p:nvPr>
        </p:nvSpPr>
        <p:spPr>
          <a:xfrm>
            <a:off x="2133600" y="308007"/>
            <a:ext cx="12303501" cy="687398"/>
          </a:xfrm>
          <a:prstGeom prst="rect">
            <a:avLst/>
          </a:prstGeom>
        </p:spPr>
        <p:txBody>
          <a:bodyPr vert="horz" wrap="square" lIns="0" tIns="71150" rIns="0" bIns="0" rtlCol="0">
            <a:spAutoFit/>
          </a:bodyPr>
          <a:lstStyle/>
          <a:p>
            <a:pPr marL="12700">
              <a:lnSpc>
                <a:spcPct val="100000"/>
              </a:lnSpc>
              <a:spcBef>
                <a:spcPts val="100"/>
              </a:spcBef>
            </a:pPr>
            <a:r>
              <a:rPr lang="en-US" sz="4000" dirty="0">
                <a:latin typeface="Times New Roman" panose="02020603050405020304" pitchFamily="18" charset="0"/>
                <a:cs typeface="Times New Roman" panose="02020603050405020304" pitchFamily="18" charset="0"/>
              </a:rPr>
              <a:t>Genre Performance: Domestic Vs International Markets</a:t>
            </a:r>
            <a:endParaRPr sz="4000"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F46CD119-A3BD-8398-62EB-C69C0C63F7C1}"/>
              </a:ext>
            </a:extLst>
          </p:cNvPr>
          <p:cNvSpPr txBox="1"/>
          <p:nvPr/>
        </p:nvSpPr>
        <p:spPr>
          <a:xfrm>
            <a:off x="294500" y="1409700"/>
            <a:ext cx="8134546" cy="8276112"/>
          </a:xfrm>
          <a:prstGeom prst="rect">
            <a:avLst/>
          </a:prstGeom>
        </p:spPr>
        <p:txBody>
          <a:bodyPr vert="horz" wrap="square" lIns="0" tIns="12065" rIns="0" bIns="0" rtlCol="0">
            <a:spAutoFit/>
          </a:bodyPr>
          <a:lstStyle/>
          <a:p>
            <a:pPr marL="12700" marR="5080" algn="just">
              <a:lnSpc>
                <a:spcPct val="117200"/>
              </a:lnSpc>
              <a:spcBef>
                <a:spcPts val="95"/>
              </a:spcBef>
            </a:pPr>
            <a:r>
              <a:rPr lang="en-US" sz="2400" dirty="0">
                <a:solidFill>
                  <a:srgbClr val="FFFFFF"/>
                </a:solidFill>
                <a:latin typeface="Times New Roman" panose="02020603050405020304" pitchFamily="18" charset="0"/>
                <a:cs typeface="Times New Roman" panose="02020603050405020304" pitchFamily="18" charset="0"/>
              </a:rPr>
              <a:t>Fig 1:</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Foreign share exceeds domestic in every category, ranging from 56% to 65% of total revenue.</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Fantasy, adventure, animation and action earn 60-65% of revenue abroad highlighting visual spectacles drives international appeal</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T-tests performed show foreign revenue is significantly higher for 9 out of 10 genres(p&lt;0.001)</a:t>
            </a:r>
          </a:p>
          <a:p>
            <a:pPr marL="12700" marR="5080" algn="just">
              <a:lnSpc>
                <a:spcPct val="117200"/>
              </a:lnSpc>
              <a:spcBef>
                <a:spcPts val="95"/>
              </a:spcBef>
            </a:pPr>
            <a:r>
              <a:rPr lang="en-US" sz="2400" dirty="0">
                <a:solidFill>
                  <a:srgbClr val="FFFFFF"/>
                </a:solidFill>
                <a:latin typeface="Times New Roman" panose="02020603050405020304" pitchFamily="18" charset="0"/>
                <a:cs typeface="Times New Roman" panose="02020603050405020304" pitchFamily="18" charset="0"/>
              </a:rPr>
              <a:t>Fig 2: </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No genre performs better domestically as even heavy-genres like drama and comedy earn 55-57% of revenue internationally as shown</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The financial impact is large and consistent as demonstrated by 95% confidence intervals show foreign revenue exceeds domestic by $2M to $97M per film, depending on genre.</a:t>
            </a:r>
          </a:p>
          <a:p>
            <a:pPr marL="355600" marR="5080" indent="-342900" algn="just">
              <a:lnSpc>
                <a:spcPct val="117200"/>
              </a:lnSpc>
              <a:spcBef>
                <a:spcPts val="95"/>
              </a:spcBef>
              <a:buFont typeface="Wingdings" panose="05000000000000000000" pitchFamily="2" charset="2"/>
              <a:buChar char="v"/>
            </a:pPr>
            <a:r>
              <a:rPr lang="en-US" sz="2400" b="1" dirty="0">
                <a:solidFill>
                  <a:srgbClr val="FFFFFF"/>
                </a:solidFill>
                <a:latin typeface="Times New Roman" panose="02020603050405020304" pitchFamily="18" charset="0"/>
                <a:cs typeface="Times New Roman" panose="02020603050405020304" pitchFamily="18" charset="0"/>
              </a:rPr>
              <a:t>Conclusion: </a:t>
            </a:r>
            <a:r>
              <a:rPr lang="en-US" sz="2400" dirty="0">
                <a:solidFill>
                  <a:srgbClr val="FFFFFF"/>
                </a:solidFill>
                <a:latin typeface="Times New Roman" panose="02020603050405020304" pitchFamily="18" charset="0"/>
                <a:cs typeface="Times New Roman" panose="02020603050405020304" pitchFamily="18" charset="0"/>
              </a:rPr>
              <a:t>Majority of marketing and distribution resources should be allocated to international markets for all genres, with highest international earners receiving 70-80% of foreign-focused investments.</a:t>
            </a:r>
          </a:p>
        </p:txBody>
      </p:sp>
      <p:pic>
        <p:nvPicPr>
          <p:cNvPr id="5" name="Picture 4">
            <a:extLst>
              <a:ext uri="{FF2B5EF4-FFF2-40B4-BE49-F238E27FC236}">
                <a16:creationId xmlns:a16="http://schemas.microsoft.com/office/drawing/2014/main" id="{8F30D5BD-13B8-AA8E-EC8F-1AB9E9A3E373}"/>
              </a:ext>
            </a:extLst>
          </p:cNvPr>
          <p:cNvPicPr>
            <a:picLocks noChangeAspect="1"/>
          </p:cNvPicPr>
          <p:nvPr/>
        </p:nvPicPr>
        <p:blipFill>
          <a:blip r:embed="rId2"/>
          <a:stretch>
            <a:fillRect/>
          </a:stretch>
        </p:blipFill>
        <p:spPr>
          <a:xfrm>
            <a:off x="9197853" y="1206238"/>
            <a:ext cx="8795648" cy="3733800"/>
          </a:xfrm>
          <a:prstGeom prst="rect">
            <a:avLst/>
          </a:prstGeom>
        </p:spPr>
      </p:pic>
      <p:pic>
        <p:nvPicPr>
          <p:cNvPr id="8" name="Picture 7">
            <a:extLst>
              <a:ext uri="{FF2B5EF4-FFF2-40B4-BE49-F238E27FC236}">
                <a16:creationId xmlns:a16="http://schemas.microsoft.com/office/drawing/2014/main" id="{0D1E7FB2-761E-E532-0551-9AEBAD683AB9}"/>
              </a:ext>
            </a:extLst>
          </p:cNvPr>
          <p:cNvPicPr>
            <a:picLocks noChangeAspect="1"/>
          </p:cNvPicPr>
          <p:nvPr/>
        </p:nvPicPr>
        <p:blipFill>
          <a:blip r:embed="rId3"/>
          <a:stretch>
            <a:fillRect/>
          </a:stretch>
        </p:blipFill>
        <p:spPr>
          <a:xfrm>
            <a:off x="9224892" y="5143499"/>
            <a:ext cx="8795648" cy="4499710"/>
          </a:xfrm>
          <a:prstGeom prst="rect">
            <a:avLst/>
          </a:prstGeom>
        </p:spPr>
      </p:pic>
    </p:spTree>
    <p:extLst>
      <p:ext uri="{BB962C8B-B14F-4D97-AF65-F5344CB8AC3E}">
        <p14:creationId xmlns:p14="http://schemas.microsoft.com/office/powerpoint/2010/main" val="275225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B722E-257F-F3C3-3A38-2FC6C1C0686D}"/>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45E8A9BA-32FE-F803-F627-6364146813EF}"/>
              </a:ext>
            </a:extLst>
          </p:cNvPr>
          <p:cNvSpPr txBox="1">
            <a:spLocks noGrp="1"/>
          </p:cNvSpPr>
          <p:nvPr>
            <p:ph type="title"/>
          </p:nvPr>
        </p:nvSpPr>
        <p:spPr>
          <a:xfrm>
            <a:off x="1752600" y="152400"/>
            <a:ext cx="12725400" cy="687398"/>
          </a:xfrm>
          <a:prstGeom prst="rect">
            <a:avLst/>
          </a:prstGeom>
        </p:spPr>
        <p:txBody>
          <a:bodyPr vert="horz" wrap="square" lIns="0" tIns="71150" rIns="0" bIns="0" rtlCol="0">
            <a:spAutoFit/>
          </a:bodyPr>
          <a:lstStyle/>
          <a:p>
            <a:pPr marL="12700">
              <a:lnSpc>
                <a:spcPct val="100000"/>
              </a:lnSpc>
              <a:spcBef>
                <a:spcPts val="100"/>
              </a:spcBef>
            </a:pPr>
            <a:r>
              <a:rPr lang="en-US" sz="4000" dirty="0">
                <a:latin typeface="Times New Roman" panose="02020603050405020304" pitchFamily="18" charset="0"/>
                <a:cs typeface="Times New Roman" panose="02020603050405020304" pitchFamily="18" charset="0"/>
              </a:rPr>
              <a:t>Release Timing- Maximizing Box Office Performance</a:t>
            </a:r>
            <a:endParaRPr sz="4000"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338678FF-B4D6-400E-1979-711213F36792}"/>
              </a:ext>
            </a:extLst>
          </p:cNvPr>
          <p:cNvSpPr txBox="1"/>
          <p:nvPr/>
        </p:nvSpPr>
        <p:spPr>
          <a:xfrm>
            <a:off x="294500" y="1409700"/>
            <a:ext cx="8567036" cy="7424725"/>
          </a:xfrm>
          <a:prstGeom prst="rect">
            <a:avLst/>
          </a:prstGeom>
        </p:spPr>
        <p:txBody>
          <a:bodyPr vert="horz" wrap="square" lIns="0" tIns="12065" rIns="0" bIns="0" rtlCol="0">
            <a:spAutoFit/>
          </a:bodyPr>
          <a:lstStyle/>
          <a:p>
            <a:pPr marL="12700" marR="5080" algn="just">
              <a:lnSpc>
                <a:spcPct val="117200"/>
              </a:lnSpc>
              <a:spcBef>
                <a:spcPts val="95"/>
              </a:spcBef>
            </a:pPr>
            <a:r>
              <a:rPr lang="en-US" sz="2400" dirty="0">
                <a:solidFill>
                  <a:srgbClr val="FFFFFF"/>
                </a:solidFill>
                <a:latin typeface="Times New Roman" panose="02020603050405020304" pitchFamily="18" charset="0"/>
                <a:cs typeface="Times New Roman" panose="02020603050405020304" pitchFamily="18" charset="0"/>
              </a:rPr>
              <a:t>Both figures:</a:t>
            </a: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Peak seasons;(May-July) and holiday(November-December) drive 3X higher revenue highlighted by their average gross of $190M-$225M vs. $70M-$80M in off-peak months.</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 Lowest-performing months see a sharp drop averaging a 72% lower revenue making them risky for major releases.</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Genre performance often align with seasonality i.e. Action, Animation, Adventure peak in summer while Family, Drama, Fantasy perform best in holidays windows</a:t>
            </a: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355600" marR="5080" indent="-342900" algn="just">
              <a:lnSpc>
                <a:spcPct val="117200"/>
              </a:lnSpc>
              <a:spcBef>
                <a:spcPts val="95"/>
              </a:spcBef>
              <a:buFont typeface="Wingdings" panose="05000000000000000000" pitchFamily="2" charset="2"/>
              <a:buChar char="v"/>
            </a:pPr>
            <a:r>
              <a:rPr lang="en-US" sz="2400" b="1" dirty="0">
                <a:solidFill>
                  <a:srgbClr val="FFFFFF"/>
                </a:solidFill>
                <a:latin typeface="Times New Roman" panose="02020603050405020304" pitchFamily="18" charset="0"/>
                <a:cs typeface="Times New Roman" panose="02020603050405020304" pitchFamily="18" charset="0"/>
              </a:rPr>
              <a:t>Conclusion: </a:t>
            </a:r>
            <a:r>
              <a:rPr lang="en-US" sz="2400" dirty="0">
                <a:solidFill>
                  <a:srgbClr val="FFFFFF"/>
                </a:solidFill>
                <a:latin typeface="Times New Roman" panose="02020603050405020304" pitchFamily="18" charset="0"/>
                <a:cs typeface="Times New Roman" panose="02020603050405020304" pitchFamily="18" charset="0"/>
              </a:rPr>
              <a:t>Strategic release planning is critical: Release big-budget films in May-July or November- December, mid-budget in Spring or Dec whilst limiting low-confidence films to of-peak months</a:t>
            </a:r>
          </a:p>
        </p:txBody>
      </p:sp>
      <p:pic>
        <p:nvPicPr>
          <p:cNvPr id="10" name="Picture 9">
            <a:extLst>
              <a:ext uri="{FF2B5EF4-FFF2-40B4-BE49-F238E27FC236}">
                <a16:creationId xmlns:a16="http://schemas.microsoft.com/office/drawing/2014/main" id="{10DCF08F-D26F-378D-2926-F3EB171B9BD1}"/>
              </a:ext>
            </a:extLst>
          </p:cNvPr>
          <p:cNvPicPr>
            <a:picLocks noChangeAspect="1"/>
          </p:cNvPicPr>
          <p:nvPr/>
        </p:nvPicPr>
        <p:blipFill>
          <a:blip r:embed="rId2"/>
          <a:stretch>
            <a:fillRect/>
          </a:stretch>
        </p:blipFill>
        <p:spPr>
          <a:xfrm>
            <a:off x="9515168" y="6204363"/>
            <a:ext cx="8557205" cy="3914260"/>
          </a:xfrm>
          <a:prstGeom prst="rect">
            <a:avLst/>
          </a:prstGeom>
        </p:spPr>
      </p:pic>
      <p:pic>
        <p:nvPicPr>
          <p:cNvPr id="13" name="Picture 12">
            <a:extLst>
              <a:ext uri="{FF2B5EF4-FFF2-40B4-BE49-F238E27FC236}">
                <a16:creationId xmlns:a16="http://schemas.microsoft.com/office/drawing/2014/main" id="{6BE9FAD0-6AC9-66AC-1662-E2E2878DAEBB}"/>
              </a:ext>
            </a:extLst>
          </p:cNvPr>
          <p:cNvPicPr>
            <a:picLocks noChangeAspect="1"/>
          </p:cNvPicPr>
          <p:nvPr/>
        </p:nvPicPr>
        <p:blipFill>
          <a:blip r:embed="rId3"/>
          <a:stretch>
            <a:fillRect/>
          </a:stretch>
        </p:blipFill>
        <p:spPr>
          <a:xfrm>
            <a:off x="9494401" y="1257300"/>
            <a:ext cx="8567037" cy="4762500"/>
          </a:xfrm>
          <a:prstGeom prst="rect">
            <a:avLst/>
          </a:prstGeom>
        </p:spPr>
      </p:pic>
    </p:spTree>
    <p:extLst>
      <p:ext uri="{BB962C8B-B14F-4D97-AF65-F5344CB8AC3E}">
        <p14:creationId xmlns:p14="http://schemas.microsoft.com/office/powerpoint/2010/main" val="717229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E4EDC-605F-651B-D5E7-58132667506C}"/>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48FA297-7BE9-896A-49B8-048445F9982D}"/>
              </a:ext>
            </a:extLst>
          </p:cNvPr>
          <p:cNvGrpSpPr/>
          <p:nvPr/>
        </p:nvGrpSpPr>
        <p:grpSpPr>
          <a:xfrm>
            <a:off x="0" y="0"/>
            <a:ext cx="18288000" cy="10287000"/>
            <a:chOff x="0" y="0"/>
            <a:chExt cx="18288000" cy="10287000"/>
          </a:xfrm>
        </p:grpSpPr>
        <p:sp>
          <p:nvSpPr>
            <p:cNvPr id="3" name="object 3">
              <a:extLst>
                <a:ext uri="{FF2B5EF4-FFF2-40B4-BE49-F238E27FC236}">
                  <a16:creationId xmlns:a16="http://schemas.microsoft.com/office/drawing/2014/main" id="{6FD195E5-A87B-6F08-4439-803297C1C017}"/>
                </a:ext>
              </a:extLst>
            </p:cNvPr>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6F601D7D-358F-D24C-1D8B-8537BE3929C4}"/>
                </a:ext>
              </a:extLst>
            </p:cNvPr>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a:extLst>
                <a:ext uri="{FF2B5EF4-FFF2-40B4-BE49-F238E27FC236}">
                  <a16:creationId xmlns:a16="http://schemas.microsoft.com/office/drawing/2014/main" id="{CC6501DE-7AFC-6735-EA5D-5CB8157B9657}"/>
                </a:ext>
              </a:extLst>
            </p:cNvPr>
            <p:cNvPicPr/>
            <p:nvPr/>
          </p:nvPicPr>
          <p:blipFill>
            <a:blip r:embed="rId2" cstate="print"/>
            <a:stretch>
              <a:fillRect/>
            </a:stretch>
          </p:blipFill>
          <p:spPr>
            <a:xfrm>
              <a:off x="0" y="7653925"/>
              <a:ext cx="18287998" cy="2633074"/>
            </a:xfrm>
            <a:prstGeom prst="rect">
              <a:avLst/>
            </a:prstGeom>
          </p:spPr>
        </p:pic>
      </p:grpSp>
      <p:sp>
        <p:nvSpPr>
          <p:cNvPr id="6" name="object 6">
            <a:extLst>
              <a:ext uri="{FF2B5EF4-FFF2-40B4-BE49-F238E27FC236}">
                <a16:creationId xmlns:a16="http://schemas.microsoft.com/office/drawing/2014/main" id="{CDDA1254-0989-F08D-3A17-F861F84CC9E7}"/>
              </a:ext>
            </a:extLst>
          </p:cNvPr>
          <p:cNvSpPr txBox="1">
            <a:spLocks noGrp="1"/>
          </p:cNvSpPr>
          <p:nvPr>
            <p:ph type="title"/>
          </p:nvPr>
        </p:nvSpPr>
        <p:spPr>
          <a:xfrm>
            <a:off x="1600200" y="308007"/>
            <a:ext cx="14401799"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Market Dynamics Analysis:</a:t>
            </a:r>
            <a:endParaRPr sz="4000" spc="760" dirty="0">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BDEB8D5A-02AB-AB78-CA43-DE6DFDB86A8B}"/>
              </a:ext>
            </a:extLst>
          </p:cNvPr>
          <p:cNvSpPr txBox="1">
            <a:spLocks noGrp="1"/>
          </p:cNvSpPr>
          <p:nvPr>
            <p:ph type="body" idx="1"/>
          </p:nvPr>
        </p:nvSpPr>
        <p:spPr>
          <a:xfrm>
            <a:off x="1295400" y="1333500"/>
            <a:ext cx="15977041" cy="4066178"/>
          </a:xfrm>
          <a:prstGeom prst="rect">
            <a:avLst/>
          </a:prstGeom>
        </p:spPr>
        <p:txBody>
          <a:bodyPr vert="horz" wrap="square" lIns="0" tIns="12065" rIns="0" bIns="0" rtlCol="0">
            <a:spAutoFit/>
          </a:bodyPr>
          <a:lstStyle/>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Presented by the Chief Marketing Strategist: Eve Michelle :</a:t>
            </a: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Marketing dynamics significantly influence a film’s commercial performance. Beyond production quality, audience awareness, critic reception, an overall popularity shape whether a film succeeds at the box office.</a:t>
            </a: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Therefore, understanding these relationships enables YE Studios make data-driven marketing and investments decisions</a:t>
            </a:r>
          </a:p>
          <a:p>
            <a:pPr algn="just">
              <a:lnSpc>
                <a:spcPts val="4620"/>
              </a:lnSpc>
            </a:pPr>
            <a:endParaRPr lang="en-US" sz="2400" spc="-10" dirty="0">
              <a:latin typeface="Times New Roman" panose="02020603050405020304" pitchFamily="18" charset="0"/>
              <a:cs typeface="Times New Roman" panose="02020603050405020304" pitchFamily="18" charset="0"/>
            </a:endParaRPr>
          </a:p>
          <a:p>
            <a:pPr marL="342900" indent="-342900" algn="just">
              <a:lnSpc>
                <a:spcPts val="4620"/>
              </a:lnSpc>
              <a:buFont typeface="Wingdings" panose="05000000000000000000" pitchFamily="2" charset="2"/>
              <a:buChar char="v"/>
            </a:pPr>
            <a:r>
              <a:rPr lang="en-US" sz="2400" spc="-10" dirty="0">
                <a:latin typeface="Times New Roman" panose="02020603050405020304" pitchFamily="18" charset="0"/>
                <a:cs typeface="Times New Roman" panose="02020603050405020304" pitchFamily="18" charset="0"/>
              </a:rPr>
              <a:t>I explore how critical acclaim, audience engagement, and popularity relate to worldwide revenue performance.</a:t>
            </a:r>
          </a:p>
          <a:p>
            <a:pPr algn="just">
              <a:lnSpc>
                <a:spcPts val="4620"/>
              </a:lnSpc>
            </a:pPr>
            <a:endParaRPr lang="en-US" sz="2400"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4391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905000" y="308006"/>
            <a:ext cx="12532101" cy="687398"/>
          </a:xfrm>
          <a:prstGeom prst="rect">
            <a:avLst/>
          </a:prstGeom>
        </p:spPr>
        <p:txBody>
          <a:bodyPr vert="horz" wrap="square" lIns="0" tIns="71150" rIns="0" bIns="0" rtlCol="0">
            <a:spAutoFit/>
          </a:bodyPr>
          <a:lstStyle/>
          <a:p>
            <a:pPr marL="668020">
              <a:lnSpc>
                <a:spcPct val="100000"/>
              </a:lnSpc>
              <a:spcBef>
                <a:spcPts val="100"/>
              </a:spcBef>
            </a:pPr>
            <a:r>
              <a:rPr lang="en-US" sz="4000" spc="680" dirty="0"/>
              <a:t>Key Drivers of Box Office Success</a:t>
            </a:r>
            <a:endParaRPr sz="4000" dirty="0"/>
          </a:p>
        </p:txBody>
      </p:sp>
      <p:sp>
        <p:nvSpPr>
          <p:cNvPr id="11" name="object 11"/>
          <p:cNvSpPr txBox="1"/>
          <p:nvPr/>
        </p:nvSpPr>
        <p:spPr>
          <a:xfrm>
            <a:off x="9906000" y="2274188"/>
            <a:ext cx="7905750" cy="6573338"/>
          </a:xfrm>
          <a:prstGeom prst="rect">
            <a:avLst/>
          </a:prstGeom>
        </p:spPr>
        <p:txBody>
          <a:bodyPr vert="horz" wrap="square" lIns="0" tIns="12065" rIns="0" bIns="0" rtlCol="0">
            <a:spAutoFit/>
          </a:bodyPr>
          <a:lstStyle/>
          <a:p>
            <a:pPr marL="12700" marR="5080" algn="just">
              <a:lnSpc>
                <a:spcPct val="117200"/>
              </a:lnSpc>
              <a:spcBef>
                <a:spcPts val="95"/>
              </a:spcBef>
            </a:pPr>
            <a:r>
              <a:rPr lang="en-US" sz="2400" dirty="0">
                <a:solidFill>
                  <a:srgbClr val="FFFFFF"/>
                </a:solidFill>
                <a:latin typeface="Times New Roman" panose="02020603050405020304" pitchFamily="18" charset="0"/>
                <a:cs typeface="Times New Roman" panose="02020603050405020304" pitchFamily="18" charset="0"/>
              </a:rPr>
              <a:t>Fig 1:</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Popularity vs. Total Box Office Revenue show the strongest correlation highlighting that higher visibility drives higher box office revenue.</a:t>
            </a:r>
          </a:p>
          <a:p>
            <a:pPr marL="355600" marR="5080" indent="-342900" algn="just">
              <a:lnSpc>
                <a:spcPct val="117200"/>
              </a:lnSpc>
              <a:spcBef>
                <a:spcPts val="95"/>
              </a:spcBef>
              <a:buFont typeface="Wingdings" panose="05000000000000000000" pitchFamily="2" charset="2"/>
              <a:buChar char="v"/>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r>
              <a:rPr lang="en-US" sz="2400" dirty="0">
                <a:solidFill>
                  <a:srgbClr val="FFFFFF"/>
                </a:solidFill>
                <a:latin typeface="Times New Roman" panose="02020603050405020304" pitchFamily="18" charset="0"/>
                <a:cs typeface="Times New Roman" panose="02020603050405020304" pitchFamily="18" charset="0"/>
              </a:rPr>
              <a:t>Fig 2:</a:t>
            </a:r>
          </a:p>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Like the first graph, the second graph illustrating Number of Votes vs. Revenue highlights that high engagement indicates strong word-of-mouth and awareness and equally drives higher box office revenue.</a:t>
            </a:r>
          </a:p>
          <a:p>
            <a:pPr marL="12700" marR="5080" algn="just">
              <a:lnSpc>
                <a:spcPct val="117200"/>
              </a:lnSpc>
              <a:spcBef>
                <a:spcPts val="95"/>
              </a:spcBef>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endParaRPr sz="24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0F519393-871A-7CC4-622B-23191B7F70D9}"/>
              </a:ext>
            </a:extLst>
          </p:cNvPr>
          <p:cNvPicPr>
            <a:picLocks noChangeAspect="1"/>
          </p:cNvPicPr>
          <p:nvPr/>
        </p:nvPicPr>
        <p:blipFill>
          <a:blip r:embed="rId2"/>
          <a:stretch>
            <a:fillRect/>
          </a:stretch>
        </p:blipFill>
        <p:spPr>
          <a:xfrm>
            <a:off x="997761" y="1562100"/>
            <a:ext cx="8138865" cy="3962399"/>
          </a:xfrm>
          <a:prstGeom prst="rect">
            <a:avLst/>
          </a:prstGeom>
        </p:spPr>
      </p:pic>
      <p:pic>
        <p:nvPicPr>
          <p:cNvPr id="15" name="Picture 14">
            <a:extLst>
              <a:ext uri="{FF2B5EF4-FFF2-40B4-BE49-F238E27FC236}">
                <a16:creationId xmlns:a16="http://schemas.microsoft.com/office/drawing/2014/main" id="{A2EFC0F8-3DEB-17CA-6521-89F932E6EA2D}"/>
              </a:ext>
            </a:extLst>
          </p:cNvPr>
          <p:cNvPicPr>
            <a:picLocks noChangeAspect="1"/>
          </p:cNvPicPr>
          <p:nvPr/>
        </p:nvPicPr>
        <p:blipFill>
          <a:blip r:embed="rId3"/>
          <a:stretch>
            <a:fillRect/>
          </a:stretch>
        </p:blipFill>
        <p:spPr>
          <a:xfrm>
            <a:off x="1020512" y="5711794"/>
            <a:ext cx="8154107" cy="4267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F657A-3B56-C670-E7F7-16ECFCF1FA2F}"/>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5AA3E92B-BE94-D79C-5E0D-F0F99D327735}"/>
              </a:ext>
            </a:extLst>
          </p:cNvPr>
          <p:cNvSpPr txBox="1">
            <a:spLocks noGrp="1"/>
          </p:cNvSpPr>
          <p:nvPr>
            <p:ph type="title"/>
          </p:nvPr>
        </p:nvSpPr>
        <p:spPr>
          <a:xfrm>
            <a:off x="1905000" y="308006"/>
            <a:ext cx="12532101" cy="687398"/>
          </a:xfrm>
          <a:prstGeom prst="rect">
            <a:avLst/>
          </a:prstGeom>
        </p:spPr>
        <p:txBody>
          <a:bodyPr vert="horz" wrap="square" lIns="0" tIns="71150" rIns="0" bIns="0" rtlCol="0">
            <a:spAutoFit/>
          </a:bodyPr>
          <a:lstStyle/>
          <a:p>
            <a:pPr marL="668020">
              <a:lnSpc>
                <a:spcPct val="100000"/>
              </a:lnSpc>
              <a:spcBef>
                <a:spcPts val="100"/>
              </a:spcBef>
            </a:pPr>
            <a:r>
              <a:rPr lang="en-US" sz="4000" spc="680" dirty="0"/>
              <a:t>Key Drivers of Box Office Success: Cont</a:t>
            </a:r>
            <a:endParaRPr sz="4000" dirty="0"/>
          </a:p>
        </p:txBody>
      </p:sp>
      <p:sp>
        <p:nvSpPr>
          <p:cNvPr id="11" name="object 11">
            <a:extLst>
              <a:ext uri="{FF2B5EF4-FFF2-40B4-BE49-F238E27FC236}">
                <a16:creationId xmlns:a16="http://schemas.microsoft.com/office/drawing/2014/main" id="{BD017E81-540F-71A9-CECC-AE8AFD5DFDEF}"/>
              </a:ext>
            </a:extLst>
          </p:cNvPr>
          <p:cNvSpPr txBox="1"/>
          <p:nvPr/>
        </p:nvSpPr>
        <p:spPr>
          <a:xfrm>
            <a:off x="9906000" y="2552475"/>
            <a:ext cx="7905750" cy="5212902"/>
          </a:xfrm>
          <a:prstGeom prst="rect">
            <a:avLst/>
          </a:prstGeom>
        </p:spPr>
        <p:txBody>
          <a:bodyPr vert="horz" wrap="square" lIns="0" tIns="12065" rIns="0" bIns="0" rtlCol="0">
            <a:spAutoFit/>
          </a:bodyPr>
          <a:lstStyle/>
          <a:p>
            <a:pPr marL="355600" marR="5080" indent="-342900" algn="just">
              <a:lnSpc>
                <a:spcPct val="117200"/>
              </a:lnSpc>
              <a:spcBef>
                <a:spcPts val="95"/>
              </a:spcBef>
              <a:buFont typeface="Wingdings" panose="05000000000000000000" pitchFamily="2" charset="2"/>
              <a:buChar char="v"/>
            </a:pPr>
            <a:r>
              <a:rPr lang="en-US" sz="2400" dirty="0">
                <a:solidFill>
                  <a:srgbClr val="FFFFFF"/>
                </a:solidFill>
                <a:latin typeface="Times New Roman" panose="02020603050405020304" pitchFamily="18" charset="0"/>
                <a:cs typeface="Times New Roman" panose="02020603050405020304" pitchFamily="18" charset="0"/>
              </a:rPr>
              <a:t> On the other hand,  Rating vs. Revenue as shown has the weakest correlation meaning quality alone does not guarantee commercial success.</a:t>
            </a:r>
          </a:p>
          <a:p>
            <a:pPr marL="355600" marR="5080" indent="-342900" algn="just">
              <a:lnSpc>
                <a:spcPct val="117200"/>
              </a:lnSpc>
              <a:spcBef>
                <a:spcPts val="95"/>
              </a:spcBef>
              <a:buFont typeface="Wingdings" panose="05000000000000000000" pitchFamily="2" charset="2"/>
              <a:buChar char="v"/>
            </a:pPr>
            <a:endParaRPr lang="en-US" sz="2400" dirty="0">
              <a:solidFill>
                <a:srgbClr val="FFFFFF"/>
              </a:solidFill>
              <a:latin typeface="Times New Roman" panose="02020603050405020304" pitchFamily="18" charset="0"/>
              <a:cs typeface="Times New Roman" panose="02020603050405020304" pitchFamily="18" charset="0"/>
            </a:endParaRPr>
          </a:p>
          <a:p>
            <a:pPr marL="355600" marR="5080" indent="-342900" algn="just">
              <a:lnSpc>
                <a:spcPct val="117200"/>
              </a:lnSpc>
              <a:spcBef>
                <a:spcPts val="95"/>
              </a:spcBef>
              <a:buFont typeface="Wingdings" panose="05000000000000000000" pitchFamily="2" charset="2"/>
              <a:buChar char="v"/>
            </a:pPr>
            <a:endParaRPr lang="en-US" sz="2400"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r>
              <a:rPr lang="en-US" sz="2400" b="1" dirty="0">
                <a:solidFill>
                  <a:srgbClr val="FFFFFF"/>
                </a:solidFill>
                <a:latin typeface="Times New Roman" panose="02020603050405020304" pitchFamily="18" charset="0"/>
                <a:cs typeface="Times New Roman" panose="02020603050405020304" pitchFamily="18" charset="0"/>
              </a:rPr>
              <a:t>Conclusion: </a:t>
            </a:r>
            <a:r>
              <a:rPr lang="en-US" sz="2400" dirty="0">
                <a:solidFill>
                  <a:srgbClr val="FFFFFF"/>
                </a:solidFill>
                <a:latin typeface="Times New Roman" panose="02020603050405020304" pitchFamily="18" charset="0"/>
                <a:cs typeface="Times New Roman" panose="02020603050405020304" pitchFamily="18" charset="0"/>
              </a:rPr>
              <a:t>Marketing spend and buzz creation are essential as they impact popularity and votes, which directly boost revenue. A high rated film with low awareness will underperform and therefore YE Studios should invest in pre-release campaigns to maximize visibility and audience conversation, not just production quality.</a:t>
            </a:r>
          </a:p>
          <a:p>
            <a:pPr marL="12700" marR="5080" algn="just">
              <a:lnSpc>
                <a:spcPct val="117200"/>
              </a:lnSpc>
              <a:spcBef>
                <a:spcPts val="95"/>
              </a:spcBef>
            </a:pPr>
            <a:endParaRPr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08E54BC-9F60-9B0E-F6A2-D18622E43E52}"/>
              </a:ext>
            </a:extLst>
          </p:cNvPr>
          <p:cNvPicPr>
            <a:picLocks noChangeAspect="1"/>
          </p:cNvPicPr>
          <p:nvPr/>
        </p:nvPicPr>
        <p:blipFill>
          <a:blip r:embed="rId2"/>
          <a:stretch>
            <a:fillRect/>
          </a:stretch>
        </p:blipFill>
        <p:spPr>
          <a:xfrm>
            <a:off x="838200" y="2552475"/>
            <a:ext cx="8687553" cy="5182049"/>
          </a:xfrm>
          <a:prstGeom prst="rect">
            <a:avLst/>
          </a:prstGeom>
        </p:spPr>
      </p:pic>
    </p:spTree>
    <p:extLst>
      <p:ext uri="{BB962C8B-B14F-4D97-AF65-F5344CB8AC3E}">
        <p14:creationId xmlns:p14="http://schemas.microsoft.com/office/powerpoint/2010/main" val="2371589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390650" y="308007"/>
            <a:ext cx="15449550" cy="687398"/>
          </a:xfrm>
          <a:prstGeom prst="rect">
            <a:avLst/>
          </a:prstGeom>
        </p:spPr>
        <p:txBody>
          <a:bodyPr vert="horz" wrap="square" lIns="0" tIns="71150" rIns="0" bIns="0" rtlCol="0">
            <a:spAutoFit/>
          </a:bodyPr>
          <a:lstStyle/>
          <a:p>
            <a:pPr marL="707390">
              <a:lnSpc>
                <a:spcPct val="100000"/>
              </a:lnSpc>
              <a:spcBef>
                <a:spcPts val="100"/>
              </a:spcBef>
            </a:pPr>
            <a:r>
              <a:rPr lang="en-US" sz="4000" spc="660" dirty="0">
                <a:latin typeface="Times New Roman" panose="02020603050405020304" pitchFamily="18" charset="0"/>
                <a:cs typeface="Times New Roman" panose="02020603050405020304" pitchFamily="18" charset="0"/>
              </a:rPr>
              <a:t>Correlation Analysis: What drives said Revenue?</a:t>
            </a:r>
            <a:endParaRPr sz="4000" dirty="0">
              <a:latin typeface="Times New Roman" panose="02020603050405020304" pitchFamily="18" charset="0"/>
              <a:cs typeface="Times New Roman" panose="02020603050405020304" pitchFamily="18" charset="0"/>
            </a:endParaRPr>
          </a:p>
        </p:txBody>
      </p:sp>
      <p:sp>
        <p:nvSpPr>
          <p:cNvPr id="11" name="object 11"/>
          <p:cNvSpPr txBox="1"/>
          <p:nvPr/>
        </p:nvSpPr>
        <p:spPr>
          <a:xfrm>
            <a:off x="887204" y="2019300"/>
            <a:ext cx="8743950" cy="6966972"/>
          </a:xfrm>
          <a:prstGeom prst="rect">
            <a:avLst/>
          </a:prstGeom>
        </p:spPr>
        <p:txBody>
          <a:bodyPr vert="horz" wrap="square" lIns="0" tIns="12065" rIns="0" bIns="0" rtlCol="0">
            <a:spAutoFit/>
          </a:bodyPr>
          <a:lstStyle/>
          <a:p>
            <a:pPr marL="12700" marR="5080" algn="just">
              <a:lnSpc>
                <a:spcPct val="117200"/>
              </a:lnSpc>
              <a:spcBef>
                <a:spcPts val="95"/>
              </a:spcBef>
            </a:pPr>
            <a:r>
              <a:rPr lang="en-US" sz="2400" spc="-25" dirty="0">
                <a:solidFill>
                  <a:srgbClr val="FFFFFF"/>
                </a:solidFill>
                <a:latin typeface="Times New Roman" panose="02020603050405020304" pitchFamily="18" charset="0"/>
                <a:cs typeface="Times New Roman" panose="02020603050405020304" pitchFamily="18" charset="0"/>
              </a:rPr>
              <a:t>As highlighted in the matrix:</a:t>
            </a:r>
          </a:p>
          <a:p>
            <a:pPr marL="12700" marR="5080" algn="just">
              <a:lnSpc>
                <a:spcPct val="117200"/>
              </a:lnSpc>
              <a:spcBef>
                <a:spcPts val="95"/>
              </a:spcBef>
            </a:pPr>
            <a:endParaRPr lang="en-US" sz="2400" spc="-25" dirty="0">
              <a:solidFill>
                <a:srgbClr val="FFFFFF"/>
              </a:solidFill>
              <a:latin typeface="Times New Roman" panose="02020603050405020304" pitchFamily="18" charset="0"/>
              <a:cs typeface="Times New Roman" panose="02020603050405020304" pitchFamily="18" charset="0"/>
            </a:endParaRPr>
          </a:p>
          <a:p>
            <a:pPr marL="355600" marR="5080" indent="-342900" algn="just">
              <a:lnSpc>
                <a:spcPct val="117200"/>
              </a:lnSpc>
              <a:spcBef>
                <a:spcPts val="95"/>
              </a:spcBef>
              <a:buFont typeface="Wingdings" panose="05000000000000000000" pitchFamily="2" charset="2"/>
              <a:buChar char="v"/>
            </a:pPr>
            <a:r>
              <a:rPr lang="en-US" sz="2400" spc="-25" dirty="0">
                <a:solidFill>
                  <a:srgbClr val="FFFFFF"/>
                </a:solidFill>
                <a:latin typeface="Times New Roman" panose="02020603050405020304" pitchFamily="18" charset="0"/>
                <a:cs typeface="Times New Roman" panose="02020603050405020304" pitchFamily="18" charset="0"/>
              </a:rPr>
              <a:t>Popularity is the strongest revenue driver : High correlation with total gross, emphasizing that visibility and buzz are critical for box office success.</a:t>
            </a:r>
          </a:p>
          <a:p>
            <a:pPr marL="355600" marR="5080" indent="-342900" algn="just">
              <a:lnSpc>
                <a:spcPct val="117200"/>
              </a:lnSpc>
              <a:spcBef>
                <a:spcPts val="95"/>
              </a:spcBef>
              <a:buFont typeface="Wingdings" panose="05000000000000000000" pitchFamily="2" charset="2"/>
              <a:buChar char="v"/>
            </a:pPr>
            <a:r>
              <a:rPr lang="en-US" sz="2400" spc="-25" dirty="0">
                <a:solidFill>
                  <a:srgbClr val="FFFFFF"/>
                </a:solidFill>
                <a:latin typeface="Times New Roman" panose="02020603050405020304" pitchFamily="18" charset="0"/>
                <a:cs typeface="Times New Roman" panose="02020603050405020304" pitchFamily="18" charset="0"/>
              </a:rPr>
              <a:t>Audience engagement(votes) matter more than ratings: Number of votes show a stronger link to revenue than average rating, highlighting the importance of word-of-mouth and conversation.</a:t>
            </a:r>
          </a:p>
          <a:p>
            <a:pPr marL="355600" marR="5080" indent="-342900" algn="just">
              <a:lnSpc>
                <a:spcPct val="117200"/>
              </a:lnSpc>
              <a:spcBef>
                <a:spcPts val="95"/>
              </a:spcBef>
              <a:buFont typeface="Wingdings" panose="05000000000000000000" pitchFamily="2" charset="2"/>
              <a:buChar char="v"/>
            </a:pPr>
            <a:r>
              <a:rPr lang="en-US" sz="2400" spc="-25" dirty="0">
                <a:solidFill>
                  <a:srgbClr val="FFFFFF"/>
                </a:solidFill>
                <a:latin typeface="Times New Roman" panose="02020603050405020304" pitchFamily="18" charset="0"/>
                <a:cs typeface="Times New Roman" panose="02020603050405020304" pitchFamily="18" charset="0"/>
              </a:rPr>
              <a:t>Rating has the weakest influence on revenue: Correlation is positive but low, meaning a high-rated film can still fail commercially without strong marketing.</a:t>
            </a:r>
          </a:p>
          <a:p>
            <a:pPr marL="12700" marR="5080" algn="just">
              <a:lnSpc>
                <a:spcPct val="117200"/>
              </a:lnSpc>
              <a:spcBef>
                <a:spcPts val="95"/>
              </a:spcBef>
            </a:pPr>
            <a:endParaRPr lang="en-US" sz="2400" spc="-25" dirty="0">
              <a:solidFill>
                <a:srgbClr val="FFFFFF"/>
              </a:solidFill>
              <a:latin typeface="Times New Roman" panose="02020603050405020304" pitchFamily="18" charset="0"/>
              <a:cs typeface="Times New Roman" panose="02020603050405020304" pitchFamily="18" charset="0"/>
            </a:endParaRPr>
          </a:p>
          <a:p>
            <a:pPr marL="12700" marR="5080" algn="just">
              <a:lnSpc>
                <a:spcPct val="117200"/>
              </a:lnSpc>
              <a:spcBef>
                <a:spcPts val="95"/>
              </a:spcBef>
            </a:pPr>
            <a:r>
              <a:rPr lang="en-US" sz="2400" spc="-25" dirty="0">
                <a:solidFill>
                  <a:srgbClr val="FFFFFF"/>
                </a:solidFill>
                <a:latin typeface="Times New Roman" panose="02020603050405020304" pitchFamily="18" charset="0"/>
                <a:cs typeface="Times New Roman" panose="02020603050405020304" pitchFamily="18" charset="0"/>
              </a:rPr>
              <a:t>Conclusion: YE Studios should prioritize marketing and audience hype over chasing critical acclaim alone. Pre release campaigns that boost popularity and engagement have the greatest impact on box office performance.</a:t>
            </a:r>
          </a:p>
        </p:txBody>
      </p:sp>
      <p:pic>
        <p:nvPicPr>
          <p:cNvPr id="13" name="Picture 12">
            <a:extLst>
              <a:ext uri="{FF2B5EF4-FFF2-40B4-BE49-F238E27FC236}">
                <a16:creationId xmlns:a16="http://schemas.microsoft.com/office/drawing/2014/main" id="{BAA35CDF-07D5-3774-98A3-0C168D5CD105}"/>
              </a:ext>
            </a:extLst>
          </p:cNvPr>
          <p:cNvPicPr>
            <a:picLocks noChangeAspect="1"/>
          </p:cNvPicPr>
          <p:nvPr/>
        </p:nvPicPr>
        <p:blipFill>
          <a:blip r:embed="rId2"/>
          <a:stretch>
            <a:fillRect/>
          </a:stretch>
        </p:blipFill>
        <p:spPr>
          <a:xfrm>
            <a:off x="10134600" y="2247900"/>
            <a:ext cx="7477590" cy="60058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51332-7B5D-1FA4-DED4-F7E419C282DC}"/>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7071C709-3D8E-1F38-4F82-12E6C7706624}"/>
              </a:ext>
            </a:extLst>
          </p:cNvPr>
          <p:cNvSpPr txBox="1">
            <a:spLocks noGrp="1"/>
          </p:cNvSpPr>
          <p:nvPr>
            <p:ph type="title"/>
          </p:nvPr>
        </p:nvSpPr>
        <p:spPr>
          <a:xfrm>
            <a:off x="3958605" y="308006"/>
            <a:ext cx="10478496"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RECOMMENDATIONS:</a:t>
            </a:r>
            <a:endParaRPr sz="4000" spc="760" dirty="0">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69E585B9-75CA-C484-AD82-1E00A69CFE26}"/>
              </a:ext>
            </a:extLst>
          </p:cNvPr>
          <p:cNvSpPr txBox="1">
            <a:spLocks noGrp="1"/>
          </p:cNvSpPr>
          <p:nvPr>
            <p:ph type="body" idx="1"/>
          </p:nvPr>
        </p:nvSpPr>
        <p:spPr>
          <a:xfrm>
            <a:off x="685176" y="1333500"/>
            <a:ext cx="16587265" cy="8773107"/>
          </a:xfrm>
          <a:prstGeom prst="rect">
            <a:avLst/>
          </a:prstGeom>
        </p:spPr>
        <p:txBody>
          <a:bodyPr vert="horz" wrap="square" lIns="0" tIns="12065" rIns="0" bIns="0" rtlCol="0">
            <a:spAutoFit/>
          </a:bodyPr>
          <a:lstStyle/>
          <a:p>
            <a:pPr algn="just">
              <a:lnSpc>
                <a:spcPts val="4620"/>
              </a:lnSpc>
            </a:pPr>
            <a:r>
              <a:rPr lang="en-US" sz="2000" b="1" spc="-10" dirty="0">
                <a:solidFill>
                  <a:srgbClr val="FFFFFF"/>
                </a:solidFill>
                <a:latin typeface="Times New Roman" panose="02020603050405020304" pitchFamily="18" charset="0"/>
                <a:cs typeface="Times New Roman" panose="02020603050405020304" pitchFamily="18" charset="0"/>
                <a:sym typeface="Glacial Indifference"/>
              </a:rPr>
              <a:t>To Chief Financial Officer(CFO):</a:t>
            </a:r>
          </a:p>
          <a:p>
            <a:pPr algn="just">
              <a:lnSpc>
                <a:spcPts val="4620"/>
              </a:lnSpc>
            </a:pPr>
            <a:r>
              <a:rPr lang="en-US" sz="2000" b="1" spc="-10" dirty="0">
                <a:solidFill>
                  <a:srgbClr val="FFFFFF"/>
                </a:solidFill>
                <a:latin typeface="Times New Roman" panose="02020603050405020304" pitchFamily="18" charset="0"/>
                <a:cs typeface="Times New Roman" panose="02020603050405020304" pitchFamily="18" charset="0"/>
                <a:sym typeface="Glacial Indifference"/>
              </a:rPr>
              <a:t>Portfolio Strategy &amp; Financial Optimization: Adopt a Diversified Portfolio Approach.</a:t>
            </a:r>
          </a:p>
          <a:p>
            <a:pPr marL="571500" indent="-571500" algn="just">
              <a:lnSpc>
                <a:spcPts val="4620"/>
              </a:lnSpc>
              <a:buFont typeface="Arial" panose="020B0604020202020204" pitchFamily="34" charset="0"/>
              <a:buChar char="•"/>
            </a:pPr>
            <a:r>
              <a:rPr lang="en-US" sz="2000" spc="-10" dirty="0">
                <a:solidFill>
                  <a:srgbClr val="FFFFFF"/>
                </a:solidFill>
                <a:latin typeface="Times New Roman" panose="02020603050405020304" pitchFamily="18" charset="0"/>
                <a:cs typeface="Times New Roman" panose="02020603050405020304" pitchFamily="18" charset="0"/>
                <a:sym typeface="Glacial Indifference"/>
              </a:rPr>
              <a:t>Tier 1(60% of slate): Films &lt;$5M for maximum ROI (~842%)</a:t>
            </a:r>
          </a:p>
          <a:p>
            <a:pPr marL="571500" indent="-571500" algn="just">
              <a:lnSpc>
                <a:spcPts val="4620"/>
              </a:lnSpc>
              <a:buFont typeface="Arial" panose="020B0604020202020204" pitchFamily="34" charset="0"/>
              <a:buChar char="•"/>
            </a:pPr>
            <a:r>
              <a:rPr lang="en-US" sz="2000" spc="-10" dirty="0">
                <a:solidFill>
                  <a:srgbClr val="FFFFFF"/>
                </a:solidFill>
                <a:latin typeface="Times New Roman" panose="02020603050405020304" pitchFamily="18" charset="0"/>
                <a:cs typeface="Times New Roman" panose="02020603050405020304" pitchFamily="18" charset="0"/>
                <a:sym typeface="Glacial Indifference"/>
              </a:rPr>
              <a:t>Tier 2(30% of the skate): Films $10-25M for balanced growth and stability</a:t>
            </a:r>
          </a:p>
          <a:p>
            <a:pPr marL="571500" indent="-571500" algn="just">
              <a:lnSpc>
                <a:spcPts val="4620"/>
              </a:lnSpc>
              <a:buFont typeface="Arial" panose="020B0604020202020204" pitchFamily="34" charset="0"/>
              <a:buChar char="•"/>
            </a:pPr>
            <a:r>
              <a:rPr lang="en-US" sz="2000" spc="-10" dirty="0">
                <a:solidFill>
                  <a:srgbClr val="FFFFFF"/>
                </a:solidFill>
                <a:latin typeface="Times New Roman" panose="02020603050405020304" pitchFamily="18" charset="0"/>
                <a:cs typeface="Times New Roman" panose="02020603050405020304" pitchFamily="18" charset="0"/>
                <a:sym typeface="Glacial Indifference"/>
              </a:rPr>
              <a:t>Tier 3(10% of the slate): Selective $50-150M) prestige films for brand building</a:t>
            </a:r>
          </a:p>
          <a:p>
            <a:pPr algn="just">
              <a:lnSpc>
                <a:spcPts val="4620"/>
              </a:lnSpc>
            </a:pPr>
            <a:r>
              <a:rPr lang="en-US" sz="2000" b="1" spc="-10" dirty="0">
                <a:solidFill>
                  <a:srgbClr val="FFFFFF"/>
                </a:solidFill>
                <a:latin typeface="Times New Roman" panose="02020603050405020304" pitchFamily="18" charset="0"/>
                <a:cs typeface="Times New Roman" panose="02020603050405020304" pitchFamily="18" charset="0"/>
                <a:sym typeface="Glacial Indifference"/>
              </a:rPr>
              <a:t>To Chief Executive Officer(CEO):</a:t>
            </a:r>
          </a:p>
          <a:p>
            <a:pPr algn="just">
              <a:lnSpc>
                <a:spcPts val="4620"/>
              </a:lnSpc>
            </a:pPr>
            <a:r>
              <a:rPr lang="en-US" sz="2000" b="1" spc="-10" dirty="0">
                <a:solidFill>
                  <a:srgbClr val="FFFFFF"/>
                </a:solidFill>
                <a:latin typeface="Times New Roman" panose="02020603050405020304" pitchFamily="18" charset="0"/>
                <a:cs typeface="Times New Roman" panose="02020603050405020304" pitchFamily="18" charset="0"/>
                <a:sym typeface="Glacial Indifference"/>
              </a:rPr>
              <a:t>Genre &amp; Content Strategy(Dual Track)</a:t>
            </a:r>
          </a:p>
          <a:p>
            <a:pPr marL="571500" indent="-571500" algn="just">
              <a:lnSpc>
                <a:spcPts val="4620"/>
              </a:lnSpc>
              <a:buFont typeface="Arial" panose="020B0604020202020204" pitchFamily="34" charset="0"/>
              <a:buChar char="•"/>
            </a:pPr>
            <a:r>
              <a:rPr lang="en-US" sz="2000" spc="-10" dirty="0">
                <a:solidFill>
                  <a:srgbClr val="FFFFFF"/>
                </a:solidFill>
                <a:latin typeface="Times New Roman" panose="02020603050405020304" pitchFamily="18" charset="0"/>
                <a:cs typeface="Times New Roman" panose="02020603050405020304" pitchFamily="18" charset="0"/>
                <a:sym typeface="Glacial Indifference"/>
              </a:rPr>
              <a:t>For a high Roi, focus on Mystery &amp; Horror for consistent returns with low competition.</a:t>
            </a:r>
          </a:p>
          <a:p>
            <a:pPr marL="571500" indent="-571500" algn="just">
              <a:lnSpc>
                <a:spcPts val="4620"/>
              </a:lnSpc>
              <a:buFont typeface="Arial" panose="020B0604020202020204" pitchFamily="34" charset="0"/>
              <a:buChar char="•"/>
            </a:pPr>
            <a:r>
              <a:rPr lang="en-US" sz="2000" spc="-10" dirty="0">
                <a:solidFill>
                  <a:srgbClr val="FFFFFF"/>
                </a:solidFill>
                <a:latin typeface="Times New Roman" panose="02020603050405020304" pitchFamily="18" charset="0"/>
                <a:cs typeface="Times New Roman" panose="02020603050405020304" pitchFamily="18" charset="0"/>
                <a:sym typeface="Glacial Indifference"/>
              </a:rPr>
              <a:t>For Global flagships invest in Animation &amp; Adventure for max worldwide revenue</a:t>
            </a:r>
          </a:p>
          <a:p>
            <a:pPr marL="571500" indent="-571500" algn="just">
              <a:lnSpc>
                <a:spcPts val="4620"/>
              </a:lnSpc>
              <a:buFont typeface="Arial" panose="020B0604020202020204" pitchFamily="34" charset="0"/>
              <a:buChar char="•"/>
            </a:pPr>
            <a:r>
              <a:rPr lang="en-US" sz="2000" spc="-10" dirty="0">
                <a:solidFill>
                  <a:srgbClr val="FFFFFF"/>
                </a:solidFill>
                <a:latin typeface="Times New Roman" panose="02020603050405020304" pitchFamily="18" charset="0"/>
                <a:cs typeface="Times New Roman" panose="02020603050405020304" pitchFamily="18" charset="0"/>
                <a:sym typeface="Glacial Indifference"/>
              </a:rPr>
              <a:t>For International focus, prioritize visual-first storytelling whilst keeping dialogue-heavy genres(Comedy) for domestic</a:t>
            </a:r>
          </a:p>
          <a:p>
            <a:pPr algn="just">
              <a:lnSpc>
                <a:spcPts val="4620"/>
              </a:lnSpc>
            </a:pPr>
            <a:r>
              <a:rPr lang="en-US" sz="2000" b="1" spc="-10" dirty="0">
                <a:solidFill>
                  <a:srgbClr val="FFFFFF"/>
                </a:solidFill>
                <a:latin typeface="Times New Roman" panose="02020603050405020304" pitchFamily="18" charset="0"/>
                <a:cs typeface="Times New Roman" panose="02020603050405020304" pitchFamily="18" charset="0"/>
                <a:sym typeface="Glacial Indifference"/>
              </a:rPr>
              <a:t>To Board of Investors</a:t>
            </a:r>
          </a:p>
          <a:p>
            <a:pPr algn="just">
              <a:lnSpc>
                <a:spcPts val="4620"/>
              </a:lnSpc>
            </a:pPr>
            <a:r>
              <a:rPr lang="en-US" sz="2000" b="1" spc="-10" dirty="0">
                <a:solidFill>
                  <a:srgbClr val="FFFFFF"/>
                </a:solidFill>
                <a:latin typeface="Times New Roman" panose="02020603050405020304" pitchFamily="18" charset="0"/>
                <a:cs typeface="Times New Roman" panose="02020603050405020304" pitchFamily="18" charset="0"/>
                <a:sym typeface="Glacial Indifference"/>
              </a:rPr>
              <a:t>Marketing &amp; Distribution Strategy;</a:t>
            </a:r>
          </a:p>
          <a:p>
            <a:pPr marL="571500" indent="-571500" algn="just">
              <a:lnSpc>
                <a:spcPts val="4620"/>
              </a:lnSpc>
              <a:buFont typeface="Arial" panose="020B0604020202020204" pitchFamily="34" charset="0"/>
              <a:buChar char="•"/>
            </a:pPr>
            <a:r>
              <a:rPr lang="en-US" sz="2000" spc="-10" dirty="0">
                <a:solidFill>
                  <a:srgbClr val="FFFFFF"/>
                </a:solidFill>
                <a:latin typeface="Times New Roman" panose="02020603050405020304" pitchFamily="18" charset="0"/>
                <a:cs typeface="Times New Roman" panose="02020603050405020304" pitchFamily="18" charset="0"/>
                <a:sym typeface="Glacial Indifference"/>
              </a:rPr>
              <a:t>Allocate 60-8-% of marketing budgets to international markets, especially for high-travel genres9Action.Adventure,Animation,Sci-Fi)</a:t>
            </a:r>
          </a:p>
          <a:p>
            <a:pPr marL="571500" indent="-571500" algn="just">
              <a:lnSpc>
                <a:spcPts val="4620"/>
              </a:lnSpc>
              <a:buFont typeface="Arial" panose="020B0604020202020204" pitchFamily="34" charset="0"/>
              <a:buChar char="•"/>
            </a:pPr>
            <a:r>
              <a:rPr lang="en-US" sz="2000" spc="-10" dirty="0">
                <a:solidFill>
                  <a:srgbClr val="FFFFFF"/>
                </a:solidFill>
                <a:latin typeface="Times New Roman" panose="02020603050405020304" pitchFamily="18" charset="0"/>
                <a:cs typeface="Times New Roman" panose="02020603050405020304" pitchFamily="18" charset="0"/>
                <a:sym typeface="Glacial Indifference"/>
              </a:rPr>
              <a:t>Integrate marketing early :popularity and engagement drive revenue more than ratings</a:t>
            </a:r>
          </a:p>
          <a:p>
            <a:pPr marL="571500" indent="-571500" algn="just">
              <a:lnSpc>
                <a:spcPts val="4620"/>
              </a:lnSpc>
              <a:buFont typeface="Arial" panose="020B0604020202020204" pitchFamily="34" charset="0"/>
              <a:buChar char="•"/>
            </a:pPr>
            <a:r>
              <a:rPr lang="en-US" sz="2000" spc="-10" dirty="0">
                <a:solidFill>
                  <a:srgbClr val="FFFFFF"/>
                </a:solidFill>
                <a:latin typeface="Times New Roman" panose="02020603050405020304" pitchFamily="18" charset="0"/>
                <a:cs typeface="Times New Roman" panose="02020603050405020304" pitchFamily="18" charset="0"/>
                <a:sym typeface="Glacial Indifference"/>
              </a:rPr>
              <a:t>Time releases strategically: Blockbusters in May-July &amp; Nov-Dec</a:t>
            </a:r>
            <a:endParaRPr sz="2000" spc="-10" dirty="0"/>
          </a:p>
        </p:txBody>
      </p:sp>
    </p:spTree>
    <p:extLst>
      <p:ext uri="{BB962C8B-B14F-4D97-AF65-F5344CB8AC3E}">
        <p14:creationId xmlns:p14="http://schemas.microsoft.com/office/powerpoint/2010/main" val="994484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782CE-ADE5-9218-E9CC-4D95D2326728}"/>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091D2047-9CDF-C7C6-DC73-4BC6C18830A4}"/>
              </a:ext>
            </a:extLst>
          </p:cNvPr>
          <p:cNvSpPr txBox="1">
            <a:spLocks noGrp="1"/>
          </p:cNvSpPr>
          <p:nvPr>
            <p:ph type="title"/>
          </p:nvPr>
        </p:nvSpPr>
        <p:spPr>
          <a:xfrm>
            <a:off x="457846" y="419100"/>
            <a:ext cx="15391753" cy="628377"/>
          </a:xfrm>
          <a:prstGeom prst="rect">
            <a:avLst/>
          </a:prstGeom>
        </p:spPr>
        <p:txBody>
          <a:bodyPr vert="horz" wrap="square" lIns="0" tIns="12700" rIns="0" bIns="0" rtlCol="0">
            <a:spAutoFit/>
          </a:bodyPr>
          <a:lstStyle/>
          <a:p>
            <a:pPr marL="2537460">
              <a:lnSpc>
                <a:spcPct val="100000"/>
              </a:lnSpc>
              <a:spcBef>
                <a:spcPts val="100"/>
              </a:spcBef>
            </a:pPr>
            <a:r>
              <a:rPr lang="en-US" sz="4000" spc="760" dirty="0">
                <a:latin typeface="Times New Roman" panose="02020603050405020304" pitchFamily="18" charset="0"/>
                <a:cs typeface="Times New Roman" panose="02020603050405020304" pitchFamily="18" charset="0"/>
              </a:rPr>
              <a:t>Implementation &amp; Expected Outcomes:</a:t>
            </a:r>
            <a:endParaRPr sz="4000" spc="760" dirty="0">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F0EF581D-C2CC-51E0-98C1-3059CF035F9E}"/>
              </a:ext>
            </a:extLst>
          </p:cNvPr>
          <p:cNvSpPr txBox="1">
            <a:spLocks noGrp="1"/>
          </p:cNvSpPr>
          <p:nvPr>
            <p:ph type="body" idx="1"/>
          </p:nvPr>
        </p:nvSpPr>
        <p:spPr>
          <a:xfrm>
            <a:off x="1295400" y="1333500"/>
            <a:ext cx="15977041" cy="8823698"/>
          </a:xfrm>
          <a:prstGeom prst="rect">
            <a:avLst/>
          </a:prstGeom>
        </p:spPr>
        <p:txBody>
          <a:bodyPr vert="horz" wrap="square" lIns="0" tIns="12065" rIns="0" bIns="0" rtlCol="0">
            <a:spAutoFit/>
          </a:bodyPr>
          <a:lstStyle/>
          <a:p>
            <a:pPr algn="just">
              <a:lnSpc>
                <a:spcPts val="4620"/>
              </a:lnSpc>
            </a:pPr>
            <a:r>
              <a:rPr lang="en-US" sz="2400" b="1" spc="-10" dirty="0">
                <a:solidFill>
                  <a:srgbClr val="FFFFFF"/>
                </a:solidFill>
                <a:latin typeface="Times New Roman" panose="02020603050405020304" pitchFamily="18" charset="0"/>
                <a:cs typeface="Times New Roman" panose="02020603050405020304" pitchFamily="18" charset="0"/>
                <a:sym typeface="Glacial Indifference"/>
              </a:rPr>
              <a:t>Expected Performance(Years 1-3):</a:t>
            </a:r>
          </a:p>
          <a:p>
            <a:pPr algn="just">
              <a:lnSpc>
                <a:spcPts val="4620"/>
              </a:lnSpc>
            </a:pPr>
            <a:r>
              <a:rPr lang="en-US" sz="2400" b="1" spc="-10" dirty="0">
                <a:solidFill>
                  <a:srgbClr val="FFFFFF"/>
                </a:solidFill>
                <a:latin typeface="Times New Roman" panose="02020603050405020304" pitchFamily="18" charset="0"/>
                <a:cs typeface="Times New Roman" panose="02020603050405020304" pitchFamily="18" charset="0"/>
                <a:sym typeface="Glacial Indifference"/>
              </a:rPr>
              <a:t>Blended Portfolio ROI~410%</a:t>
            </a:r>
          </a:p>
          <a:p>
            <a:pPr algn="just">
              <a:lnSpc>
                <a:spcPts val="4620"/>
              </a:lnSpc>
            </a:pPr>
            <a:r>
              <a:rPr lang="en-US" sz="2400" b="1" spc="-10" dirty="0">
                <a:solidFill>
                  <a:srgbClr val="FFFFFF"/>
                </a:solidFill>
                <a:latin typeface="Times New Roman" panose="02020603050405020304" pitchFamily="18" charset="0"/>
                <a:cs typeface="Times New Roman" panose="02020603050405020304" pitchFamily="18" charset="0"/>
                <a:sym typeface="Glacial Indifference"/>
              </a:rPr>
              <a:t>Capital Allocation:</a:t>
            </a:r>
          </a:p>
          <a:p>
            <a:pPr marL="342900" indent="-342900" algn="just">
              <a:lnSpc>
                <a:spcPts val="4620"/>
              </a:lnSpc>
              <a:buFont typeface="Arial" panose="020B0604020202020204" pitchFamily="34" charset="0"/>
              <a:buChar char="•"/>
            </a:pPr>
            <a:r>
              <a:rPr lang="en-US" sz="2400" spc="-10" dirty="0">
                <a:solidFill>
                  <a:srgbClr val="FFFFFF"/>
                </a:solidFill>
                <a:latin typeface="Times New Roman" panose="02020603050405020304" pitchFamily="18" charset="0"/>
                <a:cs typeface="Times New Roman" panose="02020603050405020304" pitchFamily="18" charset="0"/>
                <a:sym typeface="Glacial Indifference"/>
              </a:rPr>
              <a:t>$40M in &lt;$5M films - ~$337M return</a:t>
            </a:r>
          </a:p>
          <a:p>
            <a:pPr marL="342900" indent="-342900" algn="just">
              <a:lnSpc>
                <a:spcPts val="4620"/>
              </a:lnSpc>
              <a:buFont typeface="Arial" panose="020B0604020202020204" pitchFamily="34" charset="0"/>
              <a:buChar char="•"/>
            </a:pPr>
            <a:r>
              <a:rPr lang="en-US" sz="2400" spc="-10" dirty="0">
                <a:solidFill>
                  <a:srgbClr val="FFFFFF"/>
                </a:solidFill>
                <a:latin typeface="Times New Roman" panose="02020603050405020304" pitchFamily="18" charset="0"/>
                <a:cs typeface="Times New Roman" panose="02020603050405020304" pitchFamily="18" charset="0"/>
                <a:sym typeface="Glacial Indifference"/>
              </a:rPr>
              <a:t>$45M in $10-25M films - ~$143M return</a:t>
            </a:r>
          </a:p>
          <a:p>
            <a:pPr marL="342900" indent="-342900" algn="just">
              <a:lnSpc>
                <a:spcPts val="4620"/>
              </a:lnSpc>
              <a:buFont typeface="Arial" panose="020B0604020202020204" pitchFamily="34" charset="0"/>
              <a:buChar char="•"/>
            </a:pPr>
            <a:r>
              <a:rPr lang="en-US" sz="2400" spc="-10" dirty="0">
                <a:solidFill>
                  <a:srgbClr val="FFFFFF"/>
                </a:solidFill>
                <a:latin typeface="Times New Roman" panose="02020603050405020304" pitchFamily="18" charset="0"/>
                <a:cs typeface="Times New Roman" panose="02020603050405020304" pitchFamily="18" charset="0"/>
                <a:sym typeface="Glacial Indifference"/>
              </a:rPr>
              <a:t>Reserve $150M for selective prestige projects</a:t>
            </a:r>
          </a:p>
          <a:p>
            <a:pPr algn="just">
              <a:lnSpc>
                <a:spcPts val="4620"/>
              </a:lnSpc>
            </a:pPr>
            <a:endParaRPr lang="en-US" sz="2400" spc="-10" dirty="0">
              <a:solidFill>
                <a:srgbClr val="FFFFFF"/>
              </a:solidFill>
              <a:latin typeface="Times New Roman" panose="02020603050405020304" pitchFamily="18" charset="0"/>
              <a:cs typeface="Times New Roman" panose="02020603050405020304" pitchFamily="18" charset="0"/>
              <a:sym typeface="Glacial Indifference"/>
            </a:endParaRPr>
          </a:p>
          <a:p>
            <a:pPr algn="just">
              <a:lnSpc>
                <a:spcPts val="4620"/>
              </a:lnSpc>
            </a:pPr>
            <a:r>
              <a:rPr lang="en-US" sz="2400" b="1" spc="-10" dirty="0">
                <a:solidFill>
                  <a:srgbClr val="FFFFFF"/>
                </a:solidFill>
                <a:latin typeface="Times New Roman" panose="02020603050405020304" pitchFamily="18" charset="0"/>
                <a:cs typeface="Times New Roman" panose="02020603050405020304" pitchFamily="18" charset="0"/>
                <a:sym typeface="Glacial Indifference"/>
              </a:rPr>
              <a:t>Key Strategic Shifts:</a:t>
            </a:r>
          </a:p>
          <a:p>
            <a:pPr marL="342900" indent="-342900" algn="just">
              <a:lnSpc>
                <a:spcPts val="4620"/>
              </a:lnSpc>
              <a:buFont typeface="Arial" panose="020B0604020202020204" pitchFamily="34" charset="0"/>
              <a:buChar char="•"/>
            </a:pPr>
            <a:r>
              <a:rPr lang="en-US" sz="2400" spc="-10" dirty="0">
                <a:solidFill>
                  <a:srgbClr val="FFFFFF"/>
                </a:solidFill>
                <a:latin typeface="Times New Roman" panose="02020603050405020304" pitchFamily="18" charset="0"/>
                <a:cs typeface="Times New Roman" panose="02020603050405020304" pitchFamily="18" charset="0"/>
                <a:sym typeface="Glacial Indifference"/>
              </a:rPr>
              <a:t>Reject the Indie Vs Major </a:t>
            </a:r>
            <a:r>
              <a:rPr lang="en-US" sz="2400" spc="-10" dirty="0" err="1">
                <a:solidFill>
                  <a:srgbClr val="FFFFFF"/>
                </a:solidFill>
                <a:latin typeface="Times New Roman" panose="02020603050405020304" pitchFamily="18" charset="0"/>
                <a:cs typeface="Times New Roman" panose="02020603050405020304" pitchFamily="18" charset="0"/>
                <a:sym typeface="Glacial Indifference"/>
              </a:rPr>
              <a:t>dichotomy:adopt</a:t>
            </a:r>
            <a:r>
              <a:rPr lang="en-US" sz="2400" spc="-10" dirty="0">
                <a:solidFill>
                  <a:srgbClr val="FFFFFF"/>
                </a:solidFill>
                <a:latin typeface="Times New Roman" panose="02020603050405020304" pitchFamily="18" charset="0"/>
                <a:cs typeface="Times New Roman" panose="02020603050405020304" pitchFamily="18" charset="0"/>
                <a:sym typeface="Glacial Indifference"/>
              </a:rPr>
              <a:t> independent budgets with major studio distribution.</a:t>
            </a:r>
          </a:p>
          <a:p>
            <a:pPr marL="342900" indent="-342900" algn="just">
              <a:lnSpc>
                <a:spcPts val="4620"/>
              </a:lnSpc>
              <a:buFont typeface="Arial" panose="020B0604020202020204" pitchFamily="34" charset="0"/>
              <a:buChar char="•"/>
            </a:pPr>
            <a:r>
              <a:rPr lang="en-US" sz="2400" spc="-10" dirty="0">
                <a:solidFill>
                  <a:srgbClr val="FFFFFF"/>
                </a:solidFill>
                <a:latin typeface="Times New Roman" panose="02020603050405020304" pitchFamily="18" charset="0"/>
                <a:cs typeface="Times New Roman" panose="02020603050405020304" pitchFamily="18" charset="0"/>
                <a:sym typeface="Glacial Indifference"/>
              </a:rPr>
              <a:t>Do not equate budget with quality: highest ROI in the lowest budget tier</a:t>
            </a:r>
          </a:p>
          <a:p>
            <a:pPr marL="342900" indent="-342900" algn="just">
              <a:lnSpc>
                <a:spcPts val="4620"/>
              </a:lnSpc>
              <a:buFont typeface="Arial" panose="020B0604020202020204" pitchFamily="34" charset="0"/>
              <a:buChar char="•"/>
            </a:pPr>
            <a:r>
              <a:rPr lang="en-US" sz="2400" spc="-10" dirty="0">
                <a:solidFill>
                  <a:srgbClr val="FFFFFF"/>
                </a:solidFill>
                <a:latin typeface="Times New Roman" panose="02020603050405020304" pitchFamily="18" charset="0"/>
                <a:cs typeface="Times New Roman" panose="02020603050405020304" pitchFamily="18" charset="0"/>
                <a:sym typeface="Glacial Indifference"/>
              </a:rPr>
              <a:t>Release timing is a multiplier: align genre with seasonal peaks</a:t>
            </a:r>
          </a:p>
          <a:p>
            <a:pPr marL="342900" indent="-342900" algn="just">
              <a:lnSpc>
                <a:spcPts val="4620"/>
              </a:lnSpc>
              <a:buFont typeface="Arial" panose="020B0604020202020204" pitchFamily="34" charset="0"/>
              <a:buChar char="•"/>
            </a:pPr>
            <a:r>
              <a:rPr lang="en-US" sz="2400" spc="-10" dirty="0">
                <a:solidFill>
                  <a:srgbClr val="FFFFFF"/>
                </a:solidFill>
                <a:latin typeface="Times New Roman" panose="02020603050405020304" pitchFamily="18" charset="0"/>
                <a:cs typeface="Times New Roman" panose="02020603050405020304" pitchFamily="18" charset="0"/>
                <a:sym typeface="Glacial Indifference"/>
              </a:rPr>
              <a:t>Market globally, produce efficiently: leverage high foreign revenue share across all genres  </a:t>
            </a:r>
          </a:p>
          <a:p>
            <a:pPr algn="just">
              <a:lnSpc>
                <a:spcPts val="4620"/>
              </a:lnSpc>
            </a:pPr>
            <a:r>
              <a:rPr lang="en-US" sz="2400" b="1" spc="-10" dirty="0">
                <a:solidFill>
                  <a:srgbClr val="FFFFFF"/>
                </a:solidFill>
                <a:latin typeface="Times New Roman" panose="02020603050405020304" pitchFamily="18" charset="0"/>
                <a:cs typeface="Times New Roman" panose="02020603050405020304" pitchFamily="18" charset="0"/>
                <a:sym typeface="Glacial Indifference"/>
              </a:rPr>
              <a:t>CONCLUSION: </a:t>
            </a:r>
            <a:r>
              <a:rPr lang="en-US" sz="2400" spc="-10" dirty="0">
                <a:solidFill>
                  <a:srgbClr val="FFFFFF"/>
                </a:solidFill>
                <a:latin typeface="Times New Roman" panose="02020603050405020304" pitchFamily="18" charset="0"/>
                <a:cs typeface="Times New Roman" panose="02020603050405020304" pitchFamily="18" charset="0"/>
                <a:sym typeface="Glacial Indifference"/>
              </a:rPr>
              <a:t>YE Studios can achieve profitability, growth, and prestige by balancing a data-driven portfolio, genre-specific targeting, and globally optimized marketing all underpinned by discipled financial allocation.</a:t>
            </a:r>
          </a:p>
          <a:p>
            <a:pPr algn="just">
              <a:lnSpc>
                <a:spcPts val="4620"/>
              </a:lnSpc>
            </a:pPr>
            <a:endParaRPr spc="-10" dirty="0"/>
          </a:p>
        </p:txBody>
      </p:sp>
    </p:spTree>
    <p:extLst>
      <p:ext uri="{BB962C8B-B14F-4D97-AF65-F5344CB8AC3E}">
        <p14:creationId xmlns:p14="http://schemas.microsoft.com/office/powerpoint/2010/main" val="399434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sp>
          <p:nvSpPr>
            <p:cNvPr id="3" name="object 3"/>
            <p:cNvSpPr/>
            <p:nvPr/>
          </p:nvSpPr>
          <p:spPr>
            <a:xfrm>
              <a:off x="837576" y="815921"/>
              <a:ext cx="16612869" cy="8655685"/>
            </a:xfrm>
            <a:custGeom>
              <a:avLst/>
              <a:gdLst/>
              <a:ahLst/>
              <a:cxnLst/>
              <a:rect l="l" t="t" r="r" b="b"/>
              <a:pathLst>
                <a:path w="16612869" h="8655685">
                  <a:moveTo>
                    <a:pt x="0" y="0"/>
                  </a:moveTo>
                  <a:lnTo>
                    <a:pt x="16612835" y="0"/>
                  </a:lnTo>
                  <a:lnTo>
                    <a:pt x="16612835" y="8655098"/>
                  </a:lnTo>
                  <a:lnTo>
                    <a:pt x="0" y="8655098"/>
                  </a:lnTo>
                  <a:lnTo>
                    <a:pt x="0" y="0"/>
                  </a:lnTo>
                  <a:close/>
                </a:path>
              </a:pathLst>
            </a:custGeom>
            <a:ln w="76199">
              <a:solidFill>
                <a:srgbClr val="000000"/>
              </a:solidFill>
            </a:ln>
          </p:spPr>
          <p:txBody>
            <a:bodyPr wrap="square" lIns="0" tIns="0" rIns="0" bIns="0" rtlCol="0"/>
            <a:lstStyle/>
            <a:p>
              <a:endParaRPr/>
            </a:p>
          </p:txBody>
        </p:sp>
        <p:sp>
          <p:nvSpPr>
            <p:cNvPr id="4" name="object 4"/>
            <p:cNvSpPr/>
            <p:nvPr/>
          </p:nvSpPr>
          <p:spPr>
            <a:xfrm>
              <a:off x="3836614" y="0"/>
              <a:ext cx="10607675" cy="1793875"/>
            </a:xfrm>
            <a:custGeom>
              <a:avLst/>
              <a:gdLst/>
              <a:ahLst/>
              <a:cxnLst/>
              <a:rect l="l" t="t" r="r" b="b"/>
              <a:pathLst>
                <a:path w="10607675" h="1793875">
                  <a:moveTo>
                    <a:pt x="10607146" y="1793334"/>
                  </a:moveTo>
                  <a:lnTo>
                    <a:pt x="0" y="1793334"/>
                  </a:lnTo>
                  <a:lnTo>
                    <a:pt x="0" y="0"/>
                  </a:lnTo>
                  <a:lnTo>
                    <a:pt x="10607146" y="0"/>
                  </a:lnTo>
                  <a:lnTo>
                    <a:pt x="10607146" y="1793334"/>
                  </a:lnTo>
                  <a:close/>
                </a:path>
              </a:pathLst>
            </a:custGeom>
            <a:solidFill>
              <a:srgbClr val="182537"/>
            </a:solidFill>
          </p:spPr>
          <p:txBody>
            <a:bodyPr wrap="square" lIns="0" tIns="0" rIns="0" bIns="0" rtlCol="0"/>
            <a:lstStyle/>
            <a:p>
              <a:endParaRPr/>
            </a:p>
          </p:txBody>
        </p:sp>
        <p:pic>
          <p:nvPicPr>
            <p:cNvPr id="5" name="object 5"/>
            <p:cNvPicPr/>
            <p:nvPr/>
          </p:nvPicPr>
          <p:blipFill>
            <a:blip r:embed="rId2" cstate="print"/>
            <a:stretch>
              <a:fillRect/>
            </a:stretch>
          </p:blipFill>
          <p:spPr>
            <a:xfrm>
              <a:off x="0" y="7653925"/>
              <a:ext cx="18287998" cy="2633074"/>
            </a:xfrm>
            <a:prstGeom prst="rect">
              <a:avLst/>
            </a:prstGeom>
          </p:spPr>
        </p:pic>
      </p:grpSp>
      <p:sp>
        <p:nvSpPr>
          <p:cNvPr id="6" name="object 6"/>
          <p:cNvSpPr txBox="1"/>
          <p:nvPr/>
        </p:nvSpPr>
        <p:spPr>
          <a:xfrm>
            <a:off x="6451476" y="308006"/>
            <a:ext cx="5384800" cy="1092200"/>
          </a:xfrm>
          <a:prstGeom prst="rect">
            <a:avLst/>
          </a:prstGeom>
        </p:spPr>
        <p:txBody>
          <a:bodyPr vert="horz" wrap="square" lIns="0" tIns="12700" rIns="0" bIns="0" rtlCol="0">
            <a:spAutoFit/>
          </a:bodyPr>
          <a:lstStyle/>
          <a:p>
            <a:pPr marL="12700">
              <a:lnSpc>
                <a:spcPct val="100000"/>
              </a:lnSpc>
              <a:spcBef>
                <a:spcPts val="100"/>
              </a:spcBef>
            </a:pPr>
            <a:r>
              <a:rPr sz="7000" spc="-290" dirty="0">
                <a:solidFill>
                  <a:srgbClr val="FDF5F5"/>
                </a:solidFill>
                <a:latin typeface="Calibri"/>
                <a:cs typeface="Calibri"/>
              </a:rPr>
              <a:t>QNA</a:t>
            </a:r>
            <a:r>
              <a:rPr sz="7000" spc="465" dirty="0">
                <a:solidFill>
                  <a:srgbClr val="FDF5F5"/>
                </a:solidFill>
                <a:latin typeface="Calibri"/>
                <a:cs typeface="Calibri"/>
              </a:rPr>
              <a:t> </a:t>
            </a:r>
            <a:r>
              <a:rPr sz="7000" spc="900" dirty="0">
                <a:solidFill>
                  <a:srgbClr val="FDF5F5"/>
                </a:solidFill>
                <a:latin typeface="Calibri"/>
                <a:cs typeface="Calibri"/>
              </a:rPr>
              <a:t>Session</a:t>
            </a:r>
            <a:endParaRPr sz="7000">
              <a:latin typeface="Calibri"/>
              <a:cs typeface="Calibri"/>
            </a:endParaRPr>
          </a:p>
        </p:txBody>
      </p:sp>
      <p:sp>
        <p:nvSpPr>
          <p:cNvPr id="7" name="object 7"/>
          <p:cNvSpPr/>
          <p:nvPr/>
        </p:nvSpPr>
        <p:spPr>
          <a:xfrm>
            <a:off x="2251913" y="5035765"/>
            <a:ext cx="13784580" cy="153670"/>
          </a:xfrm>
          <a:custGeom>
            <a:avLst/>
            <a:gdLst/>
            <a:ahLst/>
            <a:cxnLst/>
            <a:rect l="l" t="t" r="r" b="b"/>
            <a:pathLst>
              <a:path w="13784580" h="153670">
                <a:moveTo>
                  <a:pt x="13784479" y="0"/>
                </a:moveTo>
                <a:lnTo>
                  <a:pt x="7314133" y="0"/>
                </a:lnTo>
                <a:lnTo>
                  <a:pt x="6470345" y="0"/>
                </a:lnTo>
                <a:lnTo>
                  <a:pt x="0" y="0"/>
                </a:lnTo>
                <a:lnTo>
                  <a:pt x="0" y="153454"/>
                </a:lnTo>
                <a:lnTo>
                  <a:pt x="6470345" y="153454"/>
                </a:lnTo>
                <a:lnTo>
                  <a:pt x="7314133" y="153454"/>
                </a:lnTo>
                <a:lnTo>
                  <a:pt x="13784479" y="153454"/>
                </a:lnTo>
                <a:lnTo>
                  <a:pt x="13784479" y="0"/>
                </a:lnTo>
                <a:close/>
              </a:path>
            </a:pathLst>
          </a:custGeom>
          <a:solidFill>
            <a:srgbClr val="FFFFFF"/>
          </a:solidFill>
        </p:spPr>
        <p:txBody>
          <a:bodyPr wrap="square" lIns="0" tIns="0" rIns="0" bIns="0" rtlCol="0"/>
          <a:lstStyle/>
          <a:p>
            <a:endParaRPr/>
          </a:p>
        </p:txBody>
      </p:sp>
      <p:sp>
        <p:nvSpPr>
          <p:cNvPr id="8" name="object 8"/>
          <p:cNvSpPr txBox="1"/>
          <p:nvPr/>
        </p:nvSpPr>
        <p:spPr>
          <a:xfrm>
            <a:off x="3838054" y="3314972"/>
            <a:ext cx="10612120" cy="1930400"/>
          </a:xfrm>
          <a:prstGeom prst="rect">
            <a:avLst/>
          </a:prstGeom>
        </p:spPr>
        <p:txBody>
          <a:bodyPr vert="horz" wrap="square" lIns="0" tIns="12700" rIns="0" bIns="0" rtlCol="0">
            <a:spAutoFit/>
          </a:bodyPr>
          <a:lstStyle/>
          <a:p>
            <a:pPr marL="12700">
              <a:lnSpc>
                <a:spcPct val="100000"/>
              </a:lnSpc>
              <a:spcBef>
                <a:spcPts val="100"/>
              </a:spcBef>
            </a:pPr>
            <a:r>
              <a:rPr lang="en-US" sz="12500" spc="1335" dirty="0">
                <a:solidFill>
                  <a:srgbClr val="FFFFFF"/>
                </a:solidFill>
                <a:latin typeface="Calibri"/>
                <a:cs typeface="Calibri"/>
              </a:rPr>
              <a:t>SWALI?</a:t>
            </a:r>
            <a:endParaRPr sz="12500" dirty="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117816"/>
              <a:ext cx="18287998" cy="10169182"/>
            </a:xfrm>
            <a:prstGeom prst="rect">
              <a:avLst/>
            </a:prstGeom>
          </p:spPr>
        </p:pic>
        <p:sp>
          <p:nvSpPr>
            <p:cNvPr id="4" name="object 4"/>
            <p:cNvSpPr/>
            <p:nvPr/>
          </p:nvSpPr>
          <p:spPr>
            <a:xfrm>
              <a:off x="0" y="11"/>
              <a:ext cx="18288000" cy="2729865"/>
            </a:xfrm>
            <a:custGeom>
              <a:avLst/>
              <a:gdLst/>
              <a:ahLst/>
              <a:cxnLst/>
              <a:rect l="l" t="t" r="r" b="b"/>
              <a:pathLst>
                <a:path w="18288000" h="2729865">
                  <a:moveTo>
                    <a:pt x="18287988" y="0"/>
                  </a:moveTo>
                  <a:lnTo>
                    <a:pt x="0" y="0"/>
                  </a:lnTo>
                  <a:lnTo>
                    <a:pt x="0" y="1333817"/>
                  </a:lnTo>
                  <a:lnTo>
                    <a:pt x="0" y="1352867"/>
                  </a:lnTo>
                  <a:lnTo>
                    <a:pt x="0" y="2729738"/>
                  </a:lnTo>
                  <a:lnTo>
                    <a:pt x="18287988" y="2729738"/>
                  </a:lnTo>
                  <a:lnTo>
                    <a:pt x="18287988" y="1352867"/>
                  </a:lnTo>
                  <a:lnTo>
                    <a:pt x="18287988" y="1333817"/>
                  </a:lnTo>
                  <a:lnTo>
                    <a:pt x="18287988" y="0"/>
                  </a:lnTo>
                  <a:close/>
                </a:path>
              </a:pathLst>
            </a:custGeom>
            <a:solidFill>
              <a:srgbClr val="2E3B4A"/>
            </a:solidFill>
          </p:spPr>
          <p:txBody>
            <a:bodyPr wrap="square" lIns="0" tIns="0" rIns="0" bIns="0" rtlCol="0"/>
            <a:lstStyle/>
            <a:p>
              <a:endParaRPr/>
            </a:p>
          </p:txBody>
        </p:sp>
        <p:sp>
          <p:nvSpPr>
            <p:cNvPr id="5" name="object 5"/>
            <p:cNvSpPr/>
            <p:nvPr/>
          </p:nvSpPr>
          <p:spPr>
            <a:xfrm>
              <a:off x="41795" y="0"/>
              <a:ext cx="18246725" cy="7467600"/>
            </a:xfrm>
            <a:custGeom>
              <a:avLst/>
              <a:gdLst/>
              <a:ahLst/>
              <a:cxnLst/>
              <a:rect l="l" t="t" r="r" b="b"/>
              <a:pathLst>
                <a:path w="18246725" h="7467600">
                  <a:moveTo>
                    <a:pt x="5057254" y="1333830"/>
                  </a:moveTo>
                  <a:lnTo>
                    <a:pt x="5027600" y="1333830"/>
                  </a:lnTo>
                  <a:lnTo>
                    <a:pt x="3407245" y="0"/>
                  </a:lnTo>
                  <a:lnTo>
                    <a:pt x="0" y="0"/>
                  </a:lnTo>
                  <a:lnTo>
                    <a:pt x="1620354" y="1333830"/>
                  </a:lnTo>
                  <a:lnTo>
                    <a:pt x="1610271" y="1333830"/>
                  </a:lnTo>
                  <a:lnTo>
                    <a:pt x="331647" y="2729750"/>
                  </a:lnTo>
                  <a:lnTo>
                    <a:pt x="3778631" y="2729750"/>
                  </a:lnTo>
                  <a:lnTo>
                    <a:pt x="5039804" y="1352880"/>
                  </a:lnTo>
                  <a:lnTo>
                    <a:pt x="5050752" y="1352880"/>
                  </a:lnTo>
                  <a:lnTo>
                    <a:pt x="5044503" y="1347749"/>
                  </a:lnTo>
                  <a:lnTo>
                    <a:pt x="5057254" y="1333830"/>
                  </a:lnTo>
                  <a:close/>
                </a:path>
                <a:path w="18246725" h="7467600">
                  <a:moveTo>
                    <a:pt x="10885335" y="1333830"/>
                  </a:moveTo>
                  <a:lnTo>
                    <a:pt x="10855681" y="1333830"/>
                  </a:lnTo>
                  <a:lnTo>
                    <a:pt x="9235326" y="0"/>
                  </a:lnTo>
                  <a:lnTo>
                    <a:pt x="5828081" y="0"/>
                  </a:lnTo>
                  <a:lnTo>
                    <a:pt x="7448436" y="1333830"/>
                  </a:lnTo>
                  <a:lnTo>
                    <a:pt x="7438352" y="1333830"/>
                  </a:lnTo>
                  <a:lnTo>
                    <a:pt x="6159728" y="2729750"/>
                  </a:lnTo>
                  <a:lnTo>
                    <a:pt x="9606712" y="2729750"/>
                  </a:lnTo>
                  <a:lnTo>
                    <a:pt x="10867885" y="1352880"/>
                  </a:lnTo>
                  <a:lnTo>
                    <a:pt x="10878833" y="1352880"/>
                  </a:lnTo>
                  <a:lnTo>
                    <a:pt x="10872584" y="1347749"/>
                  </a:lnTo>
                  <a:lnTo>
                    <a:pt x="10885335" y="1333830"/>
                  </a:lnTo>
                  <a:close/>
                </a:path>
                <a:path w="18246725" h="7467600">
                  <a:moveTo>
                    <a:pt x="15994596" y="7314120"/>
                  </a:moveTo>
                  <a:lnTo>
                    <a:pt x="9524251" y="7314120"/>
                  </a:lnTo>
                  <a:lnTo>
                    <a:pt x="8680463" y="7314120"/>
                  </a:lnTo>
                  <a:lnTo>
                    <a:pt x="2210117" y="7314120"/>
                  </a:lnTo>
                  <a:lnTo>
                    <a:pt x="2210117" y="7467562"/>
                  </a:lnTo>
                  <a:lnTo>
                    <a:pt x="8680463" y="7467562"/>
                  </a:lnTo>
                  <a:lnTo>
                    <a:pt x="9524251" y="7467562"/>
                  </a:lnTo>
                  <a:lnTo>
                    <a:pt x="15994596" y="7467562"/>
                  </a:lnTo>
                  <a:lnTo>
                    <a:pt x="15994596" y="7314120"/>
                  </a:lnTo>
                  <a:close/>
                </a:path>
                <a:path w="18246725" h="7467600">
                  <a:moveTo>
                    <a:pt x="15994596" y="5431777"/>
                  </a:moveTo>
                  <a:lnTo>
                    <a:pt x="9524251" y="5431777"/>
                  </a:lnTo>
                  <a:lnTo>
                    <a:pt x="8680463" y="5431777"/>
                  </a:lnTo>
                  <a:lnTo>
                    <a:pt x="2210117" y="5431777"/>
                  </a:lnTo>
                  <a:lnTo>
                    <a:pt x="2210117" y="5585218"/>
                  </a:lnTo>
                  <a:lnTo>
                    <a:pt x="8680463" y="5585218"/>
                  </a:lnTo>
                  <a:lnTo>
                    <a:pt x="9524251" y="5585218"/>
                  </a:lnTo>
                  <a:lnTo>
                    <a:pt x="15994596" y="5585218"/>
                  </a:lnTo>
                  <a:lnTo>
                    <a:pt x="15994596" y="5431777"/>
                  </a:lnTo>
                  <a:close/>
                </a:path>
                <a:path w="18246725" h="7467600">
                  <a:moveTo>
                    <a:pt x="16713416" y="1333830"/>
                  </a:moveTo>
                  <a:lnTo>
                    <a:pt x="16683762" y="1333830"/>
                  </a:lnTo>
                  <a:lnTo>
                    <a:pt x="15063407" y="0"/>
                  </a:lnTo>
                  <a:lnTo>
                    <a:pt x="11656162" y="0"/>
                  </a:lnTo>
                  <a:lnTo>
                    <a:pt x="13276517" y="1333830"/>
                  </a:lnTo>
                  <a:lnTo>
                    <a:pt x="13266433" y="1333830"/>
                  </a:lnTo>
                  <a:lnTo>
                    <a:pt x="11987809" y="2729750"/>
                  </a:lnTo>
                  <a:lnTo>
                    <a:pt x="15434793" y="2729750"/>
                  </a:lnTo>
                  <a:lnTo>
                    <a:pt x="16695966" y="1352880"/>
                  </a:lnTo>
                  <a:lnTo>
                    <a:pt x="16706914" y="1352880"/>
                  </a:lnTo>
                  <a:lnTo>
                    <a:pt x="16700665" y="1347749"/>
                  </a:lnTo>
                  <a:lnTo>
                    <a:pt x="16713416" y="1333830"/>
                  </a:lnTo>
                  <a:close/>
                </a:path>
                <a:path w="18246725" h="7467600">
                  <a:moveTo>
                    <a:pt x="18246192" y="2262619"/>
                  </a:moveTo>
                  <a:lnTo>
                    <a:pt x="17818316" y="2729750"/>
                  </a:lnTo>
                  <a:lnTo>
                    <a:pt x="18246192" y="2729750"/>
                  </a:lnTo>
                  <a:lnTo>
                    <a:pt x="18246192" y="2262619"/>
                  </a:lnTo>
                  <a:close/>
                </a:path>
                <a:path w="18246725" h="7467600">
                  <a:moveTo>
                    <a:pt x="18246192" y="0"/>
                  </a:moveTo>
                  <a:lnTo>
                    <a:pt x="17484243" y="0"/>
                  </a:lnTo>
                  <a:lnTo>
                    <a:pt x="18246192" y="627214"/>
                  </a:lnTo>
                  <a:lnTo>
                    <a:pt x="18246192" y="0"/>
                  </a:lnTo>
                  <a:close/>
                </a:path>
              </a:pathLst>
            </a:custGeom>
            <a:solidFill>
              <a:srgbClr val="FFFFFF"/>
            </a:solidFill>
          </p:spPr>
          <p:txBody>
            <a:bodyPr wrap="square" lIns="0" tIns="0" rIns="0" bIns="0" rtlCol="0"/>
            <a:lstStyle/>
            <a:p>
              <a:endParaRPr/>
            </a:p>
          </p:txBody>
        </p:sp>
        <p:pic>
          <p:nvPicPr>
            <p:cNvPr id="6" name="object 6"/>
            <p:cNvPicPr/>
            <p:nvPr/>
          </p:nvPicPr>
          <p:blipFill>
            <a:blip r:embed="rId3" cstate="print"/>
            <a:stretch>
              <a:fillRect/>
            </a:stretch>
          </p:blipFill>
          <p:spPr>
            <a:xfrm>
              <a:off x="13801720" y="7871255"/>
              <a:ext cx="4241105" cy="2257084"/>
            </a:xfrm>
            <a:prstGeom prst="rect">
              <a:avLst/>
            </a:prstGeom>
          </p:spPr>
        </p:pic>
      </p:grpSp>
      <p:sp>
        <p:nvSpPr>
          <p:cNvPr id="7" name="object 7"/>
          <p:cNvSpPr txBox="1">
            <a:spLocks noGrp="1"/>
          </p:cNvSpPr>
          <p:nvPr>
            <p:ph type="ctrTitle"/>
          </p:nvPr>
        </p:nvSpPr>
        <p:spPr>
          <a:prstGeom prst="rect">
            <a:avLst/>
          </a:prstGeom>
        </p:spPr>
        <p:txBody>
          <a:bodyPr vert="horz" wrap="square" lIns="0" tIns="12700" rIns="0" bIns="0" rtlCol="0">
            <a:spAutoFit/>
          </a:bodyPr>
          <a:lstStyle/>
          <a:p>
            <a:pPr marL="178435">
              <a:lnSpc>
                <a:spcPct val="100000"/>
              </a:lnSpc>
              <a:spcBef>
                <a:spcPts val="100"/>
              </a:spcBef>
            </a:pPr>
            <a:r>
              <a:rPr sz="12500" spc="1370" dirty="0">
                <a:solidFill>
                  <a:srgbClr val="FFFFFF"/>
                </a:solidFill>
              </a:rPr>
              <a:t>Thank</a:t>
            </a:r>
            <a:r>
              <a:rPr sz="12500" spc="855" dirty="0">
                <a:solidFill>
                  <a:srgbClr val="FFFFFF"/>
                </a:solidFill>
              </a:rPr>
              <a:t> </a:t>
            </a:r>
            <a:r>
              <a:rPr sz="12500" spc="955" dirty="0">
                <a:solidFill>
                  <a:srgbClr val="FFFFFF"/>
                </a:solidFill>
              </a:rPr>
              <a:t>You</a:t>
            </a:r>
            <a:endParaRPr sz="12500"/>
          </a:p>
        </p:txBody>
      </p:sp>
      <p:sp>
        <p:nvSpPr>
          <p:cNvPr id="8" name="object 8"/>
          <p:cNvSpPr txBox="1"/>
          <p:nvPr/>
        </p:nvSpPr>
        <p:spPr>
          <a:xfrm>
            <a:off x="2522605" y="6470139"/>
            <a:ext cx="4383405" cy="787400"/>
          </a:xfrm>
          <a:prstGeom prst="rect">
            <a:avLst/>
          </a:prstGeom>
        </p:spPr>
        <p:txBody>
          <a:bodyPr vert="horz" wrap="square" lIns="0" tIns="12700" rIns="0" bIns="0" rtlCol="0">
            <a:spAutoFit/>
          </a:bodyPr>
          <a:lstStyle/>
          <a:p>
            <a:pPr marL="12700">
              <a:lnSpc>
                <a:spcPct val="100000"/>
              </a:lnSpc>
              <a:spcBef>
                <a:spcPts val="100"/>
              </a:spcBef>
            </a:pPr>
            <a:r>
              <a:rPr sz="5000" spc="-85" dirty="0">
                <a:solidFill>
                  <a:srgbClr val="FFFFFF"/>
                </a:solidFill>
                <a:latin typeface="Trebuchet MS"/>
                <a:cs typeface="Trebuchet MS"/>
              </a:rPr>
              <a:t>by</a:t>
            </a:r>
            <a:r>
              <a:rPr sz="5000" spc="-210" dirty="0">
                <a:solidFill>
                  <a:srgbClr val="FFFFFF"/>
                </a:solidFill>
                <a:latin typeface="Trebuchet MS"/>
                <a:cs typeface="Trebuchet MS"/>
              </a:rPr>
              <a:t> </a:t>
            </a:r>
            <a:r>
              <a:rPr sz="5000" dirty="0">
                <a:solidFill>
                  <a:srgbClr val="FFFFFF"/>
                </a:solidFill>
                <a:latin typeface="Trebuchet MS"/>
                <a:cs typeface="Trebuchet MS"/>
              </a:rPr>
              <a:t>Group</a:t>
            </a:r>
            <a:r>
              <a:rPr sz="5000" spc="-210" dirty="0">
                <a:solidFill>
                  <a:srgbClr val="FFFFFF"/>
                </a:solidFill>
                <a:latin typeface="Trebuchet MS"/>
                <a:cs typeface="Trebuchet MS"/>
              </a:rPr>
              <a:t> </a:t>
            </a:r>
            <a:r>
              <a:rPr lang="en-US" sz="5000" spc="-10" dirty="0">
                <a:solidFill>
                  <a:srgbClr val="FFFFFF"/>
                </a:solidFill>
                <a:latin typeface="Trebuchet MS"/>
                <a:cs typeface="Trebuchet MS"/>
              </a:rPr>
              <a:t>One</a:t>
            </a:r>
            <a:endParaRPr sz="5000" dirty="0">
              <a:latin typeface="Trebuchet MS"/>
              <a:cs typeface="Trebuchet MS"/>
            </a:endParaRPr>
          </a:p>
        </p:txBody>
      </p:sp>
      <p:sp>
        <p:nvSpPr>
          <p:cNvPr id="9" name="object 9"/>
          <p:cNvSpPr txBox="1"/>
          <p:nvPr/>
        </p:nvSpPr>
        <p:spPr>
          <a:xfrm rot="20700000">
            <a:off x="14263962" y="8663271"/>
            <a:ext cx="3322612" cy="762000"/>
          </a:xfrm>
          <a:prstGeom prst="rect">
            <a:avLst/>
          </a:prstGeom>
        </p:spPr>
        <p:txBody>
          <a:bodyPr vert="horz" wrap="square" lIns="0" tIns="0" rIns="0" bIns="0" rtlCol="0">
            <a:spAutoFit/>
          </a:bodyPr>
          <a:lstStyle/>
          <a:p>
            <a:pPr>
              <a:lnSpc>
                <a:spcPts val="5440"/>
              </a:lnSpc>
            </a:pPr>
            <a:r>
              <a:rPr sz="6000" spc="855" dirty="0">
                <a:solidFill>
                  <a:srgbClr val="FF312D"/>
                </a:solidFill>
                <a:latin typeface="Calibri"/>
                <a:cs typeface="Calibri"/>
              </a:rPr>
              <a:t>F</a:t>
            </a:r>
            <a:r>
              <a:rPr sz="6000" spc="-450" dirty="0">
                <a:solidFill>
                  <a:srgbClr val="FF312D"/>
                </a:solidFill>
                <a:latin typeface="Calibri"/>
                <a:cs typeface="Calibri"/>
              </a:rPr>
              <a:t> </a:t>
            </a:r>
            <a:r>
              <a:rPr sz="6000" spc="1450" dirty="0">
                <a:solidFill>
                  <a:srgbClr val="FF312D"/>
                </a:solidFill>
                <a:latin typeface="Calibri"/>
                <a:cs typeface="Calibri"/>
              </a:rPr>
              <a:t>I</a:t>
            </a:r>
            <a:r>
              <a:rPr sz="6000" spc="-445" dirty="0">
                <a:solidFill>
                  <a:srgbClr val="FF312D"/>
                </a:solidFill>
                <a:latin typeface="Calibri"/>
                <a:cs typeface="Calibri"/>
              </a:rPr>
              <a:t> </a:t>
            </a:r>
            <a:r>
              <a:rPr sz="6000" spc="-125" dirty="0">
                <a:solidFill>
                  <a:srgbClr val="FF312D"/>
                </a:solidFill>
                <a:latin typeface="Calibri"/>
                <a:cs typeface="Calibri"/>
              </a:rPr>
              <a:t>N</a:t>
            </a:r>
            <a:r>
              <a:rPr sz="6000" spc="-450" dirty="0">
                <a:solidFill>
                  <a:srgbClr val="FF312D"/>
                </a:solidFill>
                <a:latin typeface="Calibri"/>
                <a:cs typeface="Calibri"/>
              </a:rPr>
              <a:t> </a:t>
            </a:r>
            <a:r>
              <a:rPr sz="6000" spc="1450" dirty="0">
                <a:solidFill>
                  <a:srgbClr val="FF312D"/>
                </a:solidFill>
                <a:latin typeface="Calibri"/>
                <a:cs typeface="Calibri"/>
              </a:rPr>
              <a:t>I</a:t>
            </a:r>
            <a:r>
              <a:rPr sz="6000" spc="-445" dirty="0">
                <a:solidFill>
                  <a:srgbClr val="FF312D"/>
                </a:solidFill>
                <a:latin typeface="Calibri"/>
                <a:cs typeface="Calibri"/>
              </a:rPr>
              <a:t> </a:t>
            </a:r>
            <a:r>
              <a:rPr sz="6000" spc="745" dirty="0">
                <a:solidFill>
                  <a:srgbClr val="FF312D"/>
                </a:solidFill>
                <a:latin typeface="Calibri"/>
                <a:cs typeface="Calibri"/>
              </a:rPr>
              <a:t>S</a:t>
            </a:r>
            <a:r>
              <a:rPr sz="6000" spc="-445" dirty="0">
                <a:solidFill>
                  <a:srgbClr val="FF312D"/>
                </a:solidFill>
                <a:latin typeface="Calibri"/>
                <a:cs typeface="Calibri"/>
              </a:rPr>
              <a:t> </a:t>
            </a:r>
            <a:r>
              <a:rPr sz="6000" spc="95" dirty="0">
                <a:solidFill>
                  <a:srgbClr val="FF312D"/>
                </a:solidFill>
                <a:latin typeface="Calibri"/>
                <a:cs typeface="Calibri"/>
              </a:rPr>
              <a:t>H</a:t>
            </a:r>
            <a:endParaRPr sz="6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417</TotalTime>
  <Words>2223</Words>
  <Application>Microsoft Office PowerPoint</Application>
  <PresentationFormat>Custom</PresentationFormat>
  <Paragraphs>180</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Glacial Indifference</vt:lpstr>
      <vt:lpstr>Times New Roman</vt:lpstr>
      <vt:lpstr>Trebuchet MS</vt:lpstr>
      <vt:lpstr>Wingdings</vt:lpstr>
      <vt:lpstr>Office Theme</vt:lpstr>
      <vt:lpstr>YE STUDIOS</vt:lpstr>
      <vt:lpstr>Board Members</vt:lpstr>
      <vt:lpstr>Introduction:</vt:lpstr>
      <vt:lpstr>Business Understanding:</vt:lpstr>
      <vt:lpstr>Data Understanding &amp; Integration:</vt:lpstr>
      <vt:lpstr>Data Analysis:</vt:lpstr>
      <vt:lpstr>Financial Optimization:</vt:lpstr>
      <vt:lpstr>Highest ROI in the lowest budget tier:</vt:lpstr>
      <vt:lpstr>Independent(Indie) Vs Major Studios: Quality and Revenue</vt:lpstr>
      <vt:lpstr>Financial Levels, Ratings and Commercial Success</vt:lpstr>
      <vt:lpstr>Genre and Content Strategy:</vt:lpstr>
      <vt:lpstr>Top Genres for Global Revenue and International Appeal:</vt:lpstr>
      <vt:lpstr>Top genres for Global and International Appeal: Cont.</vt:lpstr>
      <vt:lpstr>Identifying Underserved High-ROI niches.</vt:lpstr>
      <vt:lpstr>Competitive Positioning Analysis:</vt:lpstr>
      <vt:lpstr>Genre Performance: Domestic Vs International Markets</vt:lpstr>
      <vt:lpstr>Release Timing- Maximizing Box Office Performance</vt:lpstr>
      <vt:lpstr>Market Dynamics Analysis:</vt:lpstr>
      <vt:lpstr>Key Drivers of Box Office Success</vt:lpstr>
      <vt:lpstr>Key Drivers of Box Office Success: Cont</vt:lpstr>
      <vt:lpstr>Correlation Analysis: What drives said Revenue?</vt:lpstr>
      <vt:lpstr>RECOMMENDATIONS:</vt:lpstr>
      <vt:lpstr>Implementation &amp; Expected Outcomes: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SILVER-LINE STUDIOS</dc:title>
  <dc:creator>Anthony</dc:creator>
  <cp:keywords>DAGmRvxWEC0,BADs30gkqgg,0</cp:keywords>
  <cp:lastModifiedBy>Naomi Opiyo</cp:lastModifiedBy>
  <cp:revision>28</cp:revision>
  <dcterms:created xsi:type="dcterms:W3CDTF">2026-02-09T22:30:52Z</dcterms:created>
  <dcterms:modified xsi:type="dcterms:W3CDTF">2026-02-10T05:28:44Z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2025-05-02T00:00:00Z</vt:filetime>
  </property>
  <property fmtid="{D5CDD505-2E9C-101B-9397-08002B2CF9AE}" pid="3" name="Creator">
    <vt:lpwstr>Canva</vt:lpwstr>
  </property>
  <property fmtid="{D5CDD505-2E9C-101B-9397-08002B2CF9AE}" pid="4" name="LastSaved">
    <vt:filetime>2026-02-09T00:00:00Z</vt:filetime>
  </property>
  <property fmtid="{D5CDD505-2E9C-101B-9397-08002B2CF9AE}" pid="5" name="Producer">
    <vt:lpwstr>Canva</vt:lpwstr>
  </property>
</Properties>
</file>